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71" r:id="rId3"/>
    <p:sldId id="268" r:id="rId4"/>
    <p:sldId id="273" r:id="rId5"/>
    <p:sldId id="269" r:id="rId6"/>
    <p:sldId id="264" r:id="rId7"/>
    <p:sldId id="256" r:id="rId8"/>
    <p:sldId id="265" r:id="rId9"/>
    <p:sldId id="257" r:id="rId10"/>
    <p:sldId id="258" r:id="rId11"/>
    <p:sldId id="259" r:id="rId12"/>
    <p:sldId id="266" r:id="rId13"/>
    <p:sldId id="261" r:id="rId14"/>
    <p:sldId id="263" r:id="rId15"/>
    <p:sldId id="272" r:id="rId16"/>
    <p:sldId id="275" r:id="rId17"/>
    <p:sldId id="270" r:id="rId1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3239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presProps" Target="presProps.xml"  /><Relationship Id="rId2" Type="http://schemas.openxmlformats.org/officeDocument/2006/relationships/notesMaster" Target="notesMasters/notesMaster1.xml"  /><Relationship Id="rId20" Type="http://schemas.openxmlformats.org/officeDocument/2006/relationships/viewProps" Target="viewProps.xml"  /><Relationship Id="rId21" Type="http://schemas.openxmlformats.org/officeDocument/2006/relationships/theme" Target="theme/theme1.xml"  /><Relationship Id="rId22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5528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717287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61667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3.png"  /><Relationship Id="rId11" Type="http://schemas.openxmlformats.org/officeDocument/2006/relationships/image" Target="../media/image14.png"  /><Relationship Id="rId12" Type="http://schemas.openxmlformats.org/officeDocument/2006/relationships/image" Target="../media/image15.png"  /><Relationship Id="rId13" Type="http://schemas.openxmlformats.org/officeDocument/2006/relationships/image" Target="../media/image16.png"  /><Relationship Id="rId14" Type="http://schemas.openxmlformats.org/officeDocument/2006/relationships/image" Target="../media/image15.png"  /><Relationship Id="rId15" Type="http://schemas.openxmlformats.org/officeDocument/2006/relationships/image" Target="../media/image17.png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Relationship Id="rId6" Type="http://schemas.openxmlformats.org/officeDocument/2006/relationships/image" Target="../media/image9.png"  /><Relationship Id="rId7" Type="http://schemas.openxmlformats.org/officeDocument/2006/relationships/image" Target="../media/image10.png"  /><Relationship Id="rId8" Type="http://schemas.openxmlformats.org/officeDocument/2006/relationships/image" Target="../media/image11.png"  /><Relationship Id="rId9" Type="http://schemas.openxmlformats.org/officeDocument/2006/relationships/image" Target="../media/image1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9.png"  /><Relationship Id="rId11" Type="http://schemas.openxmlformats.org/officeDocument/2006/relationships/image" Target="../media/image19.png"  /><Relationship Id="rId12" Type="http://schemas.openxmlformats.org/officeDocument/2006/relationships/image" Target="../media/image19.png"  /><Relationship Id="rId13" Type="http://schemas.openxmlformats.org/officeDocument/2006/relationships/image" Target="../media/image20.png"  /><Relationship Id="rId14" Type="http://schemas.openxmlformats.org/officeDocument/2006/relationships/image" Target="../media/image21.png"  /><Relationship Id="rId2" Type="http://schemas.openxmlformats.org/officeDocument/2006/relationships/image" Target="../media/image18.png"  /><Relationship Id="rId3" Type="http://schemas.openxmlformats.org/officeDocument/2006/relationships/image" Target="../media/image3.png"  /><Relationship Id="rId4" Type="http://schemas.openxmlformats.org/officeDocument/2006/relationships/image" Target="../media/image19.png"  /><Relationship Id="rId5" Type="http://schemas.openxmlformats.org/officeDocument/2006/relationships/image" Target="../media/image19.png"  /><Relationship Id="rId6" Type="http://schemas.openxmlformats.org/officeDocument/2006/relationships/image" Target="../media/image19.png"  /><Relationship Id="rId7" Type="http://schemas.openxmlformats.org/officeDocument/2006/relationships/image" Target="../media/image20.png"  /><Relationship Id="rId8" Type="http://schemas.openxmlformats.org/officeDocument/2006/relationships/image" Target="../media/image21.png"  /><Relationship Id="rId9" Type="http://schemas.openxmlformats.org/officeDocument/2006/relationships/image" Target="../media/image2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2.png"  /><Relationship Id="rId3" Type="http://schemas.openxmlformats.org/officeDocument/2006/relationships/image" Target="../media/image23.png"  /><Relationship Id="rId4" Type="http://schemas.openxmlformats.org/officeDocument/2006/relationships/image" Target="../media/image2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3.png"  /><Relationship Id="rId5" Type="http://schemas.openxmlformats.org/officeDocument/2006/relationships/image" Target="../media/image26.png"  /><Relationship Id="rId6" Type="http://schemas.openxmlformats.org/officeDocument/2006/relationships/image" Target="../media/image27.png"  /><Relationship Id="rId7" Type="http://schemas.openxmlformats.org/officeDocument/2006/relationships/image" Target="../media/image28.png"  /><Relationship Id="rId8" Type="http://schemas.openxmlformats.org/officeDocument/2006/relationships/image" Target="../media/image29.png"  /><Relationship Id="rId9" Type="http://schemas.openxmlformats.org/officeDocument/2006/relationships/image" Target="../media/image30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1.png"  /><Relationship Id="rId3" Type="http://schemas.openxmlformats.org/officeDocument/2006/relationships/image" Target="../media/image32.png"  /><Relationship Id="rId4" Type="http://schemas.openxmlformats.org/officeDocument/2006/relationships/image" Target="../media/image33.png"  /><Relationship Id="rId5" Type="http://schemas.openxmlformats.org/officeDocument/2006/relationships/image" Target="../media/image34.png"  /><Relationship Id="rId6" Type="http://schemas.openxmlformats.org/officeDocument/2006/relationships/image" Target="../media/image35.png"  /><Relationship Id="rId7" Type="http://schemas.openxmlformats.org/officeDocument/2006/relationships/image" Target="../media/image36.png"  /><Relationship Id="rId8" Type="http://schemas.openxmlformats.org/officeDocument/2006/relationships/image" Target="../media/image26.png"  /><Relationship Id="rId9" Type="http://schemas.openxmlformats.org/officeDocument/2006/relationships/image" Target="../media/image3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Relationship Id="rId3" Type="http://schemas.openxmlformats.org/officeDocument/2006/relationships/image" Target="../media/image37.png"  /><Relationship Id="rId4" Type="http://schemas.openxmlformats.org/officeDocument/2006/relationships/image" Target="../media/image38.png"  /><Relationship Id="rId5" Type="http://schemas.openxmlformats.org/officeDocument/2006/relationships/image" Target="../media/image39.png"  /><Relationship Id="rId6" Type="http://schemas.openxmlformats.org/officeDocument/2006/relationships/image" Target="../media/image40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3.png"  /><Relationship Id="rId5" Type="http://schemas.openxmlformats.org/officeDocument/2006/relationships/image" Target="../media/image41.png"  /><Relationship Id="rId6" Type="http://schemas.openxmlformats.org/officeDocument/2006/relationships/image" Target="../media/image34.png"  /><Relationship Id="rId7" Type="http://schemas.openxmlformats.org/officeDocument/2006/relationships/image" Target="../media/image42.png"  /><Relationship Id="rId8" Type="http://schemas.openxmlformats.org/officeDocument/2006/relationships/image" Target="../media/image43.png"  /><Relationship Id="rId9" Type="http://schemas.openxmlformats.org/officeDocument/2006/relationships/image" Target="../media/image44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22.png"  /><Relationship Id="rId4" Type="http://schemas.openxmlformats.org/officeDocument/2006/relationships/image" Target="../media/image32.png"  /><Relationship Id="rId5" Type="http://schemas.openxmlformats.org/officeDocument/2006/relationships/image" Target="../media/image34.png"  /><Relationship Id="rId6" Type="http://schemas.openxmlformats.org/officeDocument/2006/relationships/image" Target="../media/image45.png"  /><Relationship Id="rId7" Type="http://schemas.openxmlformats.org/officeDocument/2006/relationships/image" Target="../media/image46.png"  /><Relationship Id="rId8" Type="http://schemas.openxmlformats.org/officeDocument/2006/relationships/image" Target="../media/image26.png"  /><Relationship Id="rId9" Type="http://schemas.openxmlformats.org/officeDocument/2006/relationships/image" Target="../media/image47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1.png"  /><Relationship Id="rId3" Type="http://schemas.openxmlformats.org/officeDocument/2006/relationships/image" Target="../media/image32.png"  /><Relationship Id="rId4" Type="http://schemas.openxmlformats.org/officeDocument/2006/relationships/image" Target="../media/image48.png"  /><Relationship Id="rId5" Type="http://schemas.openxmlformats.org/officeDocument/2006/relationships/image" Target="../media/image26.png"  /><Relationship Id="rId6" Type="http://schemas.openxmlformats.org/officeDocument/2006/relationships/image" Target="../media/image49.png"  /><Relationship Id="rId7" Type="http://schemas.openxmlformats.org/officeDocument/2006/relationships/image" Target="../media/image26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2.png"  /><Relationship Id="rId3" Type="http://schemas.openxmlformats.org/officeDocument/2006/relationships/image" Target="../media/image37.png"  /><Relationship Id="rId4" Type="http://schemas.openxmlformats.org/officeDocument/2006/relationships/image" Target="../media/image50.png"  /><Relationship Id="rId5" Type="http://schemas.openxmlformats.org/officeDocument/2006/relationships/image" Target="../media/image51.png"  /><Relationship Id="rId6" Type="http://schemas.openxmlformats.org/officeDocument/2006/relationships/image" Target="../media/image52.png"  /><Relationship Id="rId7" Type="http://schemas.openxmlformats.org/officeDocument/2006/relationships/image" Target="../media/image53.png"  /><Relationship Id="rId8" Type="http://schemas.openxmlformats.org/officeDocument/2006/relationships/image" Target="../media/image54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2.png"  /><Relationship Id="rId3" Type="http://schemas.openxmlformats.org/officeDocument/2006/relationships/image" Target="../media/image23.png"  /><Relationship Id="rId4" Type="http://schemas.openxmlformats.org/officeDocument/2006/relationships/image" Target="../media/image55.png"  /><Relationship Id="rId5" Type="http://schemas.openxmlformats.org/officeDocument/2006/relationships/image" Target="../media/image56.png"  /><Relationship Id="rId6" Type="http://schemas.openxmlformats.org/officeDocument/2006/relationships/image" Target="../media/image57.png"  /><Relationship Id="rId7" Type="http://schemas.openxmlformats.org/officeDocument/2006/relationships/image" Target="../media/image58.png"  /><Relationship Id="rId8" Type="http://schemas.openxmlformats.org/officeDocument/2006/relationships/image" Target="../media/image59.png"  /><Relationship Id="rId9" Type="http://schemas.openxmlformats.org/officeDocument/2006/relationships/image" Target="../media/image38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25.png"  /><Relationship Id="rId4" Type="http://schemas.openxmlformats.org/officeDocument/2006/relationships/image" Target="../media/image37.png"  /><Relationship Id="rId5" Type="http://schemas.openxmlformats.org/officeDocument/2006/relationships/image" Target="../media/image55.png"  /><Relationship Id="rId6" Type="http://schemas.openxmlformats.org/officeDocument/2006/relationships/image" Target="../media/image60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1.png"  /><Relationship Id="rId3" Type="http://schemas.openxmlformats.org/officeDocument/2006/relationships/image" Target="../media/image6.png"  /><Relationship Id="rId4" Type="http://schemas.openxmlformats.org/officeDocument/2006/relationships/image" Target="../media/image62.png"  /><Relationship Id="rId5" Type="http://schemas.openxmlformats.org/officeDocument/2006/relationships/image" Target="../media/image63.png"  /><Relationship Id="rId6" Type="http://schemas.openxmlformats.org/officeDocument/2006/relationships/image" Target="../media/image64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5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2a4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09675" y="4076700"/>
            <a:ext cx="15925800" cy="2019300"/>
          </a:xfrm>
          <a:prstGeom prst="rect">
            <a:avLst/>
          </a:prstGeom>
        </p:spPr>
        <p:txBody>
          <a:bodyPr lIns="0" tIns="336598" rIns="0" bIns="336598" anchor="ctr"/>
          <a:lstStyle/>
          <a:p>
            <a:pPr lvl="0" algn="ctr">
              <a:lnSpc>
                <a:spcPct val="87149"/>
              </a:lnSpc>
              <a:defRPr/>
            </a:pPr>
            <a:r>
              <a:rPr lang="en-US" sz="9000" b="0" i="0" u="none" strike="noStrike" spc="-13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L</a:t>
            </a:r>
            <a:r>
              <a:rPr lang="en-US" altLang="ko-KR" sz="9000" b="0" i="0" u="none" strike="noStrike" spc="-13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9000" b="0" i="0" u="none" strike="noStrike" spc="-13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L</a:t>
            </a:r>
            <a:r>
              <a:rPr lang="en-US" altLang="ko-KR" sz="9000" b="0" i="0" u="none" strike="noStrike" spc="-13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9000" b="0" i="0" u="none" strike="noStrike" spc="-13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M</a:t>
            </a:r>
            <a:r>
              <a:rPr lang="en-US" altLang="ko-KR" sz="9000" b="0" i="0" u="none" strike="noStrike" spc="-13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9000" b="0" i="0" u="none" strike="noStrike" spc="-13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을 </a:t>
            </a:r>
            <a:r>
              <a:rPr lang="en-US" altLang="ko-KR" sz="9000" b="0" i="0" u="none" strike="noStrike" spc="-13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9000" b="0" i="0" u="none" strike="noStrike" spc="-13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활용한 </a:t>
            </a:r>
            <a:r>
              <a:rPr lang="en-US" altLang="ko-KR" sz="9000" b="0" i="0" u="none" strike="noStrike" spc="-13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 </a:t>
            </a:r>
            <a:r>
              <a:rPr lang="en-US" sz="9000" b="0" i="0" u="none" strike="noStrike" spc="-13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I</a:t>
            </a:r>
            <a:r>
              <a:rPr lang="en-US" altLang="ko-KR" sz="9000" b="0" i="0" u="none" strike="noStrike" spc="-13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9000" b="0" i="0" u="none" strike="noStrike" spc="-13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T </a:t>
            </a:r>
            <a:r>
              <a:rPr lang="en-US" altLang="ko-KR" sz="9000" b="0" i="0" u="none" strike="noStrike" spc="-13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 </a:t>
            </a:r>
            <a:r>
              <a:rPr lang="en-US" sz="9000" b="0" i="0" u="none" strike="noStrike" spc="-13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H</a:t>
            </a:r>
            <a:r>
              <a:rPr lang="en-US" altLang="ko-KR" sz="9000" b="0" i="0" u="none" strike="noStrike" spc="-13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9000" b="0" i="0" u="none" strike="noStrike" spc="-13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R 웹 솔루션</a:t>
            </a:r>
            <a:endParaRPr lang="en-US" sz="9000" b="0" i="0" u="none" strike="noStrike" spc="-130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478000" y="6972300"/>
            <a:ext cx="1209675" cy="59055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김재현</a:t>
            </a: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725775" y="6972300"/>
            <a:ext cx="1209675" cy="59055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김경은</a:t>
            </a: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478000" y="7772400"/>
            <a:ext cx="1209675" cy="59055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전현규</a:t>
            </a: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754350" y="7772400"/>
            <a:ext cx="1209675" cy="59055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김민영</a:t>
            </a: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478000" y="8524875"/>
            <a:ext cx="1209675" cy="59055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강규호</a:t>
            </a: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914400" y="7734300"/>
            <a:ext cx="13030200" cy="182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전체 깃허브 </a:t>
            </a:r>
            <a:r>
              <a:rPr lang="en-US" altLang="ko-KR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</a:t>
            </a:r>
            <a:r>
              <a:rPr lang="ko-KR" altLang="en-US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https://github.com/RunSBS/HR</a:t>
            </a:r>
            <a:endParaRPr lang="ko-KR" alt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개인 깃허브</a:t>
            </a:r>
            <a:r>
              <a:rPr lang="en-US" altLang="ko-KR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스프링 부트</a:t>
            </a:r>
            <a:r>
              <a:rPr lang="en-US" altLang="ko-KR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)</a:t>
            </a:r>
            <a:r>
              <a:rPr lang="ko-KR" altLang="en-US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</a:t>
            </a:r>
            <a:r>
              <a:rPr lang="ko-KR" altLang="en-US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https://github.com/clem0927/HR_young </a:t>
            </a:r>
            <a:endParaRPr lang="ko-KR" alt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개인 깃허브</a:t>
            </a:r>
            <a:r>
              <a:rPr lang="en-US" altLang="ko-KR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플라스크</a:t>
            </a:r>
            <a:r>
              <a:rPr lang="en-US" altLang="ko-KR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)</a:t>
            </a:r>
            <a:r>
              <a:rPr lang="ko-KR" altLang="en-US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</a:t>
            </a:r>
            <a:r>
              <a:rPr lang="ko-KR" altLang="en-US" sz="30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https://github.com/clem0927/HR_FLASK_young</a:t>
            </a:r>
            <a:endParaRPr lang="ko-KR" alt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602410198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6275" y="1581150"/>
            <a:ext cx="16944976" cy="38100"/>
          </a:xfrm>
          <a:prstGeom prst="rect">
            <a:avLst/>
          </a:prstGeom>
        </p:spPr>
      </p:pic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942975" y="5372100"/>
          <a:ext cx="13099403" cy="4607244"/>
        </p:xfrm>
        <a:graphic>
          <a:graphicData uri="http://schemas.openxmlformats.org/drawingml/2006/table">
            <a:tbl>
              <a:tblGrid>
                <a:gridCol w="1845978"/>
                <a:gridCol w="1741427"/>
                <a:gridCol w="6237146"/>
                <a:gridCol w="3274851"/>
              </a:tblGrid>
              <a:tr h="767874">
                <a:tc>
                  <a:txBody>
                    <a:bodyPr vert="horz" lIns="25400" tIns="69758" rIns="25400" bIns="69758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이름</a:t>
                      </a:r>
                      <a:endParaRPr lang="en-US" sz="1700" b="1"/>
                    </a:p>
                  </a:txBody>
                  <a:tcPr marL="25400" marR="25400" marT="69758" marB="69758" anchor="ctr">
                    <a:lnL w="12700" cap="flat" cmpd="sng" algn="ctr">
                      <a:solidFill>
                        <a:srgbClr val="4970ff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4970ff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4970ff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4970ff"/>
                    </a:solidFill>
                  </a:tcPr>
                </a:tc>
                <a:tc>
                  <a:txBody>
                    <a:bodyPr vert="horz" lIns="25400" tIns="69758" rIns="25400" bIns="69758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역할</a:t>
                      </a:r>
                      <a:endParaRPr lang="en-US" sz="1700" b="1"/>
                    </a:p>
                  </a:txBody>
                  <a:tcPr marL="25400" marR="25400" marT="69758" marB="697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4970ff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4970ff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4970ff"/>
                    </a:solidFill>
                  </a:tcPr>
                </a:tc>
                <a:tc gridSpan="2">
                  <a:txBody>
                    <a:bodyPr vert="horz" lIns="25400" tIns="69758" rIns="25400" bIns="69758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담당 업무</a:t>
                      </a:r>
                      <a:endParaRPr lang="en-US" sz="1700" b="1"/>
                    </a:p>
                  </a:txBody>
                  <a:tcPr marL="25400" marR="25400" marT="69758" marB="697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4970ff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4970ff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4970ff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4970ff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8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4970ff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4970ff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4970ff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4970ff"/>
                    </a:solidFill>
                  </a:tcPr>
                </a:tc>
              </a:tr>
              <a:tr h="767874">
                <a:tc>
                  <a:txBody>
                    <a:bodyPr vert="horz" lIns="25400" tIns="66800" rIns="25400" bIns="6680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김재현</a:t>
                      </a:r>
                      <a:endParaRPr lang="en-US" sz="1600" b="1"/>
                    </a:p>
                  </a:txBody>
                  <a:tcPr marL="25400" marR="25400" marT="66800" marB="6680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4970ff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25400" tIns="66800" rIns="25400" bIns="6680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PM</a:t>
                      </a:r>
                      <a:endParaRPr lang="en-US" sz="1600" b="1"/>
                    </a:p>
                  </a:txBody>
                  <a:tcPr marL="25400" marR="25400" marT="66800" marB="6680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4970ff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 vert="horz" lIns="25400" tIns="66800" rIns="25400" bIns="6680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인사파트 ( 부서, 사원, 파견 )</a:t>
                      </a:r>
                      <a:endParaRPr lang="en-US" sz="1600" b="1"/>
                    </a:p>
                  </a:txBody>
                  <a:tcPr marL="25400" marR="25400" marT="66800" marB="6680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4970ff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8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4970ff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767874">
                <a:tc>
                  <a:txBody>
                    <a:bodyPr vert="horz" lIns="25400" tIns="66665" rIns="25400" bIns="66665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김경은</a:t>
                      </a:r>
                      <a:endParaRPr lang="en-US" sz="1600" b="1"/>
                    </a:p>
                  </a:txBody>
                  <a:tcPr marL="25400" marR="25400" marT="66665" marB="66665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vert="horz" lIns="25400" tIns="66665" rIns="25400" bIns="66665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FE</a:t>
                      </a:r>
                      <a:endParaRPr lang="en-US" sz="1600" b="1"/>
                    </a:p>
                  </a:txBody>
                  <a:tcPr marL="25400" marR="25400" marT="66665" marB="66665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7f7f7"/>
                    </a:solidFill>
                  </a:tcPr>
                </a:tc>
                <a:tc gridSpan="2">
                  <a:txBody>
                    <a:bodyPr vert="horz" lIns="25400" tIns="66665" rIns="25400" bIns="66665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근태파트( 출결, 급여 )</a:t>
                      </a:r>
                      <a:endParaRPr lang="ko-KR" altLang="en-US" sz="1600" b="1" i="0" u="none" strike="noStrike">
                        <a:solidFill>
                          <a:srgbClr val="787878"/>
                        </a:solidFill>
                        <a:latin typeface="S-Core Dream 5 Medium"/>
                        <a:ea typeface="S-Core Dream 5 Medium"/>
                        <a:cs typeface="S-Core Dream 5 Medium"/>
                      </a:endParaRPr>
                    </a:p>
                  </a:txBody>
                  <a:tcPr marL="25400" marR="25400" marT="66665" marB="66665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7f7f7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8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7f7f7"/>
                    </a:solidFill>
                  </a:tcPr>
                </a:tc>
              </a:tr>
              <a:tr h="767874">
                <a:tc>
                  <a:txBody>
                    <a:bodyPr vert="horz" lIns="25400" tIns="66665" rIns="25400" bIns="66665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전현규</a:t>
                      </a:r>
                      <a:endParaRPr lang="en-US" sz="1600" b="1"/>
                    </a:p>
                  </a:txBody>
                  <a:tcPr marL="25400" marR="25400" marT="66665" marB="66665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25400" tIns="66665" rIns="25400" bIns="66665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DB</a:t>
                      </a:r>
                      <a:endParaRPr lang="en-US" sz="1600" b="1"/>
                    </a:p>
                  </a:txBody>
                  <a:tcPr marL="25400" marR="25400" marT="66665" marB="66665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 vert="horz" lIns="25400" tIns="66665" rIns="25400" bIns="66665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평가파트 ( 평가, 보상 )</a:t>
                      </a:r>
                      <a:endParaRPr lang="en-US" sz="1600" b="1"/>
                    </a:p>
                  </a:txBody>
                  <a:tcPr marL="25400" marR="25400" marT="66665" marB="66665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8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767874">
                <a:tc>
                  <a:txBody>
                    <a:bodyPr vert="horz" lIns="25400" tIns="66665" rIns="25400" bIns="66665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김민영</a:t>
                      </a:r>
                      <a:endParaRPr lang="en-US" sz="1600" b="1"/>
                    </a:p>
                  </a:txBody>
                  <a:tcPr marL="25400" marR="25400" marT="66665" marB="66665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25400" tIns="66665" rIns="25400" bIns="66665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PL</a:t>
                      </a:r>
                      <a:endParaRPr lang="en-US" sz="1600" b="1"/>
                    </a:p>
                  </a:txBody>
                  <a:tcPr marL="25400" marR="25400" marT="66665" marB="66665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 vert="horz" lIns="25400" tIns="66665" rIns="25400" bIns="66665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일정 ( 일정, 프로젝트 )</a:t>
                      </a:r>
                      <a:endParaRPr lang="en-US" sz="1600" b="1"/>
                    </a:p>
                  </a:txBody>
                  <a:tcPr marL="25400" marR="25400" marT="66665" marB="66665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8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767874">
                <a:tc>
                  <a:txBody>
                    <a:bodyPr vert="horz" lIns="25400" tIns="66665" rIns="25400" bIns="66665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강규호</a:t>
                      </a:r>
                      <a:endParaRPr lang="en-US" sz="1600" b="1"/>
                    </a:p>
                  </a:txBody>
                  <a:tcPr marL="25400" marR="25400" marT="66665" marB="66665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25400" tIns="66665" rIns="25400" bIns="66665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AI</a:t>
                      </a:r>
                      <a:endParaRPr lang="en-US" sz="1600" b="1"/>
                    </a:p>
                  </a:txBody>
                  <a:tcPr marL="25400" marR="25400" marT="66665" marB="66665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 vert="horz" lIns="25400" tIns="66665" rIns="25400" bIns="66665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전자결제</a:t>
                      </a:r>
                      <a:endParaRPr lang="en-US" sz="1600" b="1"/>
                    </a:p>
                  </a:txBody>
                  <a:tcPr marL="25400" marR="25400" marT="66665" marB="66665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8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942975" y="514350"/>
            <a:ext cx="4219575" cy="1066800"/>
          </a:xfrm>
          <a:prstGeom prst="rect">
            <a:avLst/>
          </a:prstGeom>
        </p:spPr>
        <p:txBody>
          <a:bodyPr lIns="0" tIns="101623" rIns="0" bIns="101623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60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프로젝트 소개</a:t>
            </a:r>
            <a:endParaRPr lang="en-US" sz="6000" b="1" i="0" u="none" strike="noStrike" spc="-800">
              <a:solidFill>
                <a:srgbClr val="2a47ff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143500" y="819149"/>
            <a:ext cx="5676900" cy="742950"/>
          </a:xfrm>
          <a:prstGeom prst="rect">
            <a:avLst/>
          </a:prstGeom>
        </p:spPr>
        <p:txBody>
          <a:bodyPr lIns="0" tIns="82164" rIns="0" bIns="82164" anchor="ctr"/>
          <a:lstStyle/>
          <a:p>
            <a:pPr lvl="0" algn="l">
              <a:lnSpc>
                <a:spcPct val="83000"/>
              </a:lnSpc>
              <a:defRPr/>
            </a:pPr>
            <a:r>
              <a:rPr lang="en-US" sz="3000" b="1" i="0" u="none" strike="noStrike" spc="-1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PROJECT</a:t>
            </a:r>
            <a:r>
              <a:rPr lang="ko-KR" altLang="en-US" sz="3000" b="1" i="0" u="none" strike="noStrike" spc="-1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altLang="ko-KR" sz="3000" b="1" i="0" u="none" strike="noStrike" spc="-1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-</a:t>
            </a:r>
            <a:r>
              <a:rPr lang="ko-KR" altLang="en-US" sz="3000" b="1" i="0" u="none" strike="noStrike" spc="-1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3000" b="1" i="0" u="none" strike="noStrike" spc="-1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INTRODUCE</a:t>
            </a:r>
            <a:endParaRPr lang="en-US" sz="3000" b="1" i="0" u="none" strike="noStrike" spc="-100">
              <a:solidFill>
                <a:srgbClr val="2a47ff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201400" y="2628900"/>
            <a:ext cx="6400800" cy="3086100"/>
          </a:xfrm>
          <a:prstGeom prst="rect">
            <a:avLst/>
          </a:prstGeom>
        </p:spPr>
        <p:txBody>
          <a:bodyPr lIns="0" tIns="17780" rIns="0" bIns="14224" anchor="ctr"/>
          <a:lstStyle/>
          <a:p>
            <a:pPr lvl="0" algn="l">
              <a:lnSpc>
                <a:spcPct val="111220"/>
              </a:lnSpc>
              <a:defRPr/>
            </a:pPr>
            <a:r>
              <a:rPr lang="en-US" sz="4500" b="1" i="0" u="none" strike="noStrike" spc="-600">
                <a:solidFill>
                  <a:srgbClr val="2a47ff"/>
                </a:solidFill>
                <a:latin typeface="Pretendard Regular"/>
                <a:ea typeface="Pretendard Regular"/>
                <a:cs typeface="Pretendard Regular"/>
              </a:rPr>
              <a:t>주제 선정 배경 &amp; 차별점</a:t>
            </a:r>
            <a:endParaRPr lang="en-US" sz="3400" b="0" i="0" u="none" strike="noStrike" spc="-600">
              <a:solidFill>
                <a:srgbClr val="2a47f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1220"/>
              </a:lnSpc>
              <a:defRPr/>
            </a:pPr>
            <a:r>
              <a:rPr lang="en-US" sz="3000" b="1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ko-KR" altLang="en-US" sz="3000" b="1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기존의 </a:t>
            </a:r>
            <a:r>
              <a:rPr lang="en-US" altLang="ko-KR" sz="3000" b="1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HR</a:t>
            </a:r>
            <a:r>
              <a:rPr lang="ko-KR" altLang="en-US" sz="3000" b="1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은 개발자들을 위한 맞춤  기능들이 부족</a:t>
            </a:r>
            <a:endParaRPr lang="ko-KR" altLang="en-US" sz="3000" b="1" i="0" u="none" strike="noStrike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1220"/>
              </a:lnSpc>
              <a:defRPr/>
            </a:pPr>
            <a:r>
              <a:rPr lang="en-US" altLang="ko-KR" sz="3000" b="1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</a:t>
            </a:r>
            <a:r>
              <a:rPr lang="ko-KR" altLang="en-US" sz="3000" b="1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개발자들의 업무 특성에 맞는 기능들을 </a:t>
            </a:r>
            <a:r>
              <a:rPr lang="en-US" altLang="ko-KR" sz="3000" b="1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LLM</a:t>
            </a:r>
            <a:r>
              <a:rPr lang="ko-KR" altLang="en-US" sz="3000" b="1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을 활용하여 구현</a:t>
            </a:r>
            <a:endParaRPr lang="ko-KR" altLang="en-US" sz="3000" b="1" i="0" u="none" strike="noStrike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1220"/>
              </a:lnSpc>
              <a:defRPr/>
            </a:pPr>
            <a:r>
              <a:rPr lang="ko-KR" altLang="en-US" sz="3000" b="1" i="0" u="none" strike="noStrike">
                <a:solidFill>
                  <a:srgbClr val="595959"/>
                </a:solidFill>
                <a:latin typeface="함초롬돋움"/>
                <a:ea typeface="함초롬돋움"/>
                <a:cs typeface="함초롬돋움"/>
              </a:rPr>
              <a:t> </a:t>
            </a:r>
            <a:endParaRPr lang="ko-KR" altLang="en-US" sz="3000" b="1" i="0" u="none" strike="noStrike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1220"/>
              </a:lnSpc>
              <a:defRPr/>
            </a:pPr>
            <a:endParaRPr lang="en-US" sz="3000" b="0" i="0" u="none" strike="noStrike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1220"/>
              </a:lnSpc>
              <a:defRPr/>
            </a:pPr>
            <a:endParaRPr lang="en-US" sz="3000" b="0" i="0" u="none" strike="noStrike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4400" y="4400550"/>
            <a:ext cx="1895475" cy="771525"/>
          </a:xfrm>
          <a:prstGeom prst="rect">
            <a:avLst/>
          </a:prstGeom>
        </p:spPr>
      </p:pic>
      <p:sp>
        <p:nvSpPr>
          <p:cNvPr id="10" name="TextBox 6"/>
          <p:cNvSpPr txBox="1"/>
          <p:nvPr/>
        </p:nvSpPr>
        <p:spPr>
          <a:xfrm>
            <a:off x="990600" y="1866900"/>
            <a:ext cx="9906000" cy="1066800"/>
          </a:xfrm>
          <a:prstGeom prst="rect">
            <a:avLst/>
          </a:prstGeom>
        </p:spPr>
        <p:txBody>
          <a:bodyPr lIns="0" tIns="101623" rIns="0" bIns="101623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프</a:t>
            </a:r>
            <a:r>
              <a:rPr lang="ko-KR" altLang="en-US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로</a:t>
            </a:r>
            <a:r>
              <a:rPr lang="ko-KR" altLang="en-US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젝</a:t>
            </a:r>
            <a:r>
              <a:rPr lang="ko-KR" altLang="en-US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 트 명  </a:t>
            </a:r>
            <a:r>
              <a:rPr lang="en-US" altLang="ko-KR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:</a:t>
            </a:r>
            <a:r>
              <a:rPr lang="ko-KR" altLang="en-US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   </a:t>
            </a:r>
            <a:r>
              <a:rPr lang="en-US" altLang="ko-KR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LLM</a:t>
            </a:r>
            <a:r>
              <a:rPr lang="ko-KR" altLang="en-US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 을   활 용 한    </a:t>
            </a:r>
            <a:r>
              <a:rPr lang="en-US" altLang="ko-KR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I</a:t>
            </a:r>
            <a:r>
              <a:rPr lang="ko-KR" altLang="en-US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  </a:t>
            </a:r>
            <a:r>
              <a:rPr lang="en-US" altLang="ko-KR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T</a:t>
            </a:r>
            <a:r>
              <a:rPr lang="ko-KR" altLang="en-US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altLang="ko-KR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ko-KR" altLang="en-US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altLang="ko-KR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H</a:t>
            </a:r>
            <a:r>
              <a:rPr lang="ko-KR" altLang="en-US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altLang="ko-KR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R</a:t>
            </a:r>
            <a:r>
              <a:rPr lang="ko-KR" altLang="en-US" sz="45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   웹  솔루션</a:t>
            </a:r>
            <a:endParaRPr lang="ko-KR" altLang="en-US" sz="4500" b="1" i="0" u="none" strike="noStrike" spc="-800">
              <a:solidFill>
                <a:srgbClr val="2a47ff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1000125" y="3162300"/>
            <a:ext cx="9363074" cy="1447800"/>
          </a:xfrm>
          <a:prstGeom prst="rect">
            <a:avLst/>
          </a:prstGeom>
        </p:spPr>
        <p:txBody>
          <a:bodyPr lIns="0" tIns="17780" rIns="0" bIns="14224" anchor="ctr"/>
          <a:lstStyle/>
          <a:p>
            <a:pPr lvl="0" algn="l">
              <a:lnSpc>
                <a:spcPct val="111220"/>
              </a:lnSpc>
              <a:defRPr/>
            </a:pPr>
            <a:r>
              <a:rPr lang="en-US" sz="3000" b="1" i="0" u="none" strike="noStrike">
                <a:solidFill>
                  <a:srgbClr val="595959"/>
                </a:solidFill>
                <a:latin typeface="함초롬돋움"/>
                <a:ea typeface="함초롬돋움"/>
                <a:cs typeface="함초롬돋움"/>
              </a:rPr>
              <a:t>- </a:t>
            </a:r>
            <a:r>
              <a:rPr lang="en-US" altLang="ko-KR" sz="3000" b="1" i="0" u="none" strike="noStrike">
                <a:solidFill>
                  <a:srgbClr val="595959"/>
                </a:solidFill>
                <a:latin typeface="함초롬돋움"/>
                <a:ea typeface="함초롬돋움"/>
                <a:cs typeface="함초롬돋움"/>
              </a:rPr>
              <a:t>LLM</a:t>
            </a:r>
            <a:r>
              <a:rPr lang="ko-KR" altLang="en-US" sz="3000" b="1" i="0" u="none" strike="noStrike">
                <a:solidFill>
                  <a:srgbClr val="595959"/>
                </a:solidFill>
                <a:latin typeface="함초롬돋움"/>
                <a:ea typeface="함초롬돋움"/>
                <a:cs typeface="함초롬돋움"/>
              </a:rPr>
              <a:t>을 활용하여 </a:t>
            </a:r>
            <a:r>
              <a:rPr lang="en-US" altLang="ko-KR" sz="3000" b="1" i="0" u="none" strike="noStrike">
                <a:solidFill>
                  <a:srgbClr val="595959"/>
                </a:solidFill>
                <a:latin typeface="함초롬돋움"/>
                <a:ea typeface="함초롬돋움"/>
                <a:cs typeface="함초롬돋움"/>
              </a:rPr>
              <a:t>IT</a:t>
            </a:r>
            <a:r>
              <a:rPr lang="ko-KR" altLang="en-US" sz="3000" b="1" i="0" u="none" strike="noStrike">
                <a:solidFill>
                  <a:srgbClr val="595959"/>
                </a:solidFill>
                <a:latin typeface="함초롬돋움"/>
                <a:ea typeface="함초롬돋움"/>
                <a:cs typeface="함초롬돋움"/>
              </a:rPr>
              <a:t>회사의 사내 개발자들을 대상으로              하는 지능형 </a:t>
            </a:r>
            <a:r>
              <a:rPr lang="en-US" altLang="ko-KR" sz="3000" b="1" i="0" u="none" strike="noStrike">
                <a:solidFill>
                  <a:srgbClr val="595959"/>
                </a:solidFill>
                <a:latin typeface="함초롬돋움"/>
                <a:ea typeface="함초롬돋움"/>
                <a:cs typeface="함초롬돋움"/>
              </a:rPr>
              <a:t>HR</a:t>
            </a:r>
            <a:r>
              <a:rPr lang="ko-KR" altLang="en-US" sz="3000" b="1" i="0" u="none" strike="noStrike">
                <a:solidFill>
                  <a:srgbClr val="595959"/>
                </a:solidFill>
                <a:latin typeface="함초롬돋움"/>
                <a:ea typeface="함초롬돋움"/>
                <a:cs typeface="함초롬돋움"/>
              </a:rPr>
              <a:t> 웹 솔루션을 개발</a:t>
            </a:r>
            <a:endParaRPr lang="en-US" altLang="ko-KR" sz="3000" b="1" i="0" u="none" strike="noStrike">
              <a:solidFill>
                <a:srgbClr val="595959"/>
              </a:solidFill>
              <a:latin typeface="함초롬돋움"/>
              <a:ea typeface="함초롬돋움"/>
              <a:cs typeface="함초롬돋움"/>
            </a:endParaRPr>
          </a:p>
          <a:p>
            <a:pPr lvl="0" algn="l">
              <a:lnSpc>
                <a:spcPct val="111220"/>
              </a:lnSpc>
              <a:defRPr/>
            </a:pPr>
            <a:endParaRPr lang="en-US" sz="3000" b="0" i="0" u="none" strike="noStrike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1220"/>
              </a:lnSpc>
              <a:defRPr/>
            </a:pPr>
            <a:endParaRPr lang="en-US" sz="3000" b="0" i="0" u="none" strike="noStrike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433287685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6275" y="1581150"/>
            <a:ext cx="16944976" cy="3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42975" y="514350"/>
            <a:ext cx="5638800" cy="1066800"/>
          </a:xfrm>
          <a:prstGeom prst="rect">
            <a:avLst/>
          </a:prstGeom>
        </p:spPr>
        <p:txBody>
          <a:bodyPr lIns="0" tIns="101623" rIns="0" bIns="101623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6000" b="0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기술스택</a:t>
            </a:r>
            <a:endParaRPr lang="en-US" sz="6000" b="0" i="0" u="none" strike="noStrike" spc="-800">
              <a:solidFill>
                <a:srgbClr val="2a47ff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810000" y="952500"/>
            <a:ext cx="4029075" cy="428625"/>
          </a:xfrm>
          <a:prstGeom prst="rect">
            <a:avLst/>
          </a:prstGeom>
        </p:spPr>
        <p:txBody>
          <a:bodyPr lIns="0" tIns="82164" rIns="0" bIns="82164" anchor="ctr"/>
          <a:lstStyle/>
          <a:p>
            <a:pPr lvl="0" algn="l">
              <a:lnSpc>
                <a:spcPct val="83000"/>
              </a:lnSpc>
              <a:defRPr/>
            </a:pPr>
            <a:r>
              <a:rPr lang="en-US" sz="2400" b="0" i="0" u="none" strike="noStrike" spc="-1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ARCHITECTURE / SKILL </a:t>
            </a:r>
            <a:endParaRPr lang="en-US" sz="2400" b="0" i="0" u="none" strike="noStrike" spc="-100">
              <a:solidFill>
                <a:srgbClr val="2a47ff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391400" y="2457450"/>
            <a:ext cx="4762500" cy="4410075"/>
          </a:xfrm>
          <a:prstGeom prst="rect">
            <a:avLst/>
          </a:prstGeom>
          <a:effectLst>
            <a:outerShdw blurRad="647433" dist="271650" dir="2400000">
              <a:srgbClr val="2a47ff">
                <a:alpha val="3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439650" y="2457450"/>
            <a:ext cx="4762500" cy="4410075"/>
          </a:xfrm>
          <a:prstGeom prst="rect">
            <a:avLst/>
          </a:prstGeom>
          <a:effectLst>
            <a:outerShdw blurRad="647433" dist="271650" dir="2400000">
              <a:srgbClr val="2a47ff">
                <a:alpha val="3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200150" y="6096000"/>
            <a:ext cx="4762500" cy="3343275"/>
          </a:xfrm>
          <a:prstGeom prst="rect">
            <a:avLst/>
          </a:prstGeom>
          <a:effectLst>
            <a:outerShdw blurRad="490753" dist="205911" dir="2400000">
              <a:srgbClr val="2a47ff">
                <a:alpha val="3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372350" y="2847975"/>
            <a:ext cx="4829175" cy="914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2430125" y="2752725"/>
            <a:ext cx="4848225" cy="914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933450" y="6410325"/>
            <a:ext cx="5305425" cy="914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647825" y="7391400"/>
            <a:ext cx="3752850" cy="1704975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React</a:t>
            </a:r>
            <a:endParaRPr lang="en-US" sz="31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Java Script</a:t>
            </a:r>
            <a:endParaRPr lang="en-US" sz="31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Vite 7.2.4</a:t>
            </a:r>
            <a:endParaRPr lang="en-US" sz="31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630150" y="4010025"/>
            <a:ext cx="5410200" cy="1133475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Python 3.10.19</a:t>
            </a:r>
            <a:endParaRPr lang="en-US" sz="31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Ollama gemma 3:4b</a:t>
            </a:r>
            <a:endParaRPr lang="en-US" sz="31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altLang="ko-KR" sz="31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PyTorch</a:t>
            </a:r>
            <a:endParaRPr lang="en-US" altLang="ko-KR" sz="31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endParaRPr lang="en-US" sz="31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629525" y="4152900"/>
            <a:ext cx="4400550" cy="1704975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Spring boot &amp; JPA</a:t>
            </a:r>
            <a:endParaRPr lang="en-US" sz="31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Java 21</a:t>
            </a:r>
            <a:endParaRPr lang="en-US" sz="31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Oracle 21 AI</a:t>
            </a:r>
            <a:endParaRPr lang="en-US" sz="31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047750" y="2438400"/>
            <a:ext cx="6153150" cy="3267075"/>
          </a:xfrm>
          <a:prstGeom prst="rect">
            <a:avLst/>
          </a:prstGeom>
          <a:effectLst>
            <a:outerShdw blurRad="479675" dist="201262" dir="2400000">
              <a:srgbClr val="2a47ff">
                <a:alpha val="30000"/>
              </a:srgbClr>
            </a:outerShdw>
          </a:effectLst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33450" y="2752725"/>
            <a:ext cx="6838950" cy="914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600200" y="3724275"/>
            <a:ext cx="5695950" cy="1133475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Layered Architecture</a:t>
            </a:r>
            <a:endParaRPr lang="en-US" sz="31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MVC Pattern</a:t>
            </a:r>
            <a:endParaRPr lang="en-US" sz="31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668250" y="5143500"/>
            <a:ext cx="4629150" cy="1133475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endParaRPr lang="en-US" sz="31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648575" y="6096000"/>
            <a:ext cx="462915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sz="31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Spring Security</a:t>
            </a:r>
            <a:endParaRPr lang="en-US" sz="31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7600950" y="7086600"/>
            <a:ext cx="4000500" cy="2362200"/>
          </a:xfrm>
          <a:prstGeom prst="rect">
            <a:avLst/>
          </a:prstGeom>
          <a:effectLst>
            <a:outerShdw blurRad="345803" dist="145092" dir="2400000">
              <a:srgbClr val="2a47ff">
                <a:alpha val="30000"/>
              </a:srgbClr>
            </a:outerShdw>
          </a:effectLst>
        </p:spPr>
      </p:pic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7381875" y="7353300"/>
            <a:ext cx="4457700" cy="771525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8153400" y="8143875"/>
            <a:ext cx="3152775" cy="476250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sz="26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Github</a:t>
            </a:r>
            <a:endParaRPr lang="en-US" sz="26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2658725" y="7086600"/>
            <a:ext cx="4000500" cy="2362200"/>
          </a:xfrm>
          <a:prstGeom prst="rect">
            <a:avLst/>
          </a:prstGeom>
          <a:effectLst>
            <a:outerShdw blurRad="345803" dist="145092" dir="2400000">
              <a:srgbClr val="2a47ff">
                <a:alpha val="30000"/>
              </a:srgbClr>
            </a:outerShdw>
          </a:effectLst>
        </p:spPr>
      </p:pic>
      <p:pic>
        <p:nvPicPr>
          <p:cNvPr id="24" name="Picture 24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2430125" y="7353300"/>
            <a:ext cx="4457700" cy="771525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3030200" y="8172450"/>
            <a:ext cx="3152775" cy="952500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sz="26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IntellJ IDEA</a:t>
            </a:r>
            <a:endParaRPr lang="en-US" sz="26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sz="26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Notion</a:t>
            </a:r>
            <a:endParaRPr lang="en-US" sz="26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121310749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6275" y="1581150"/>
            <a:ext cx="16944976" cy="38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42975" y="514350"/>
            <a:ext cx="12392025" cy="1066800"/>
          </a:xfrm>
          <a:prstGeom prst="rect">
            <a:avLst/>
          </a:prstGeom>
        </p:spPr>
        <p:txBody>
          <a:bodyPr lIns="0" tIns="101623" rIns="0" bIns="101623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60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담당 파트 구현 </a:t>
            </a:r>
            <a:r>
              <a:rPr lang="en-US" sz="6000" b="1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endParaRPr lang="en-US" sz="6000" b="1" i="0" u="none" strike="noStrike" spc="-800">
              <a:solidFill>
                <a:srgbClr val="2a47ff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181600" y="800100"/>
            <a:ext cx="7153275" cy="742950"/>
          </a:xfrm>
          <a:prstGeom prst="rect">
            <a:avLst/>
          </a:prstGeom>
        </p:spPr>
        <p:txBody>
          <a:bodyPr lIns="0" tIns="82164" rIns="0" bIns="82164" anchor="ctr"/>
          <a:lstStyle/>
          <a:p>
            <a:pPr lvl="0" algn="l">
              <a:lnSpc>
                <a:spcPct val="83000"/>
              </a:lnSpc>
              <a:defRPr/>
            </a:pP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PART</a:t>
            </a:r>
            <a:r>
              <a:rPr lang="en-US" altLang="ko-KR" sz="2400" b="1" i="0" u="none" strike="noStrike" spc="-1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-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EXPLAINING</a:t>
            </a:r>
            <a:endParaRPr lang="en-US" sz="2400" b="1" i="0" u="none" strike="noStrike" spc="-100">
              <a:solidFill>
                <a:srgbClr val="2a47ff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953750" y="3638550"/>
            <a:ext cx="2305050" cy="150495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972800" y="4076700"/>
            <a:ext cx="2295525" cy="666750"/>
          </a:xfrm>
          <a:prstGeom prst="rect">
            <a:avLst/>
          </a:prstGeom>
        </p:spPr>
        <p:txBody>
          <a:bodyPr lIns="0" tIns="63880" rIns="0" bIns="6388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700" b="0" i="0" u="none" strike="noStrike">
                <a:solidFill>
                  <a:srgbClr val="4385f4"/>
                </a:solidFill>
                <a:latin typeface="Pretendard SemiBold"/>
                <a:ea typeface="Pretendard SemiBold"/>
                <a:cs typeface="Pretendard SemiBold"/>
              </a:rPr>
              <a:t>캘린더</a:t>
            </a:r>
            <a:endParaRPr lang="ko-KR" altLang="en-US" sz="3700" b="0" i="0" u="none" strike="noStrike">
              <a:solidFill>
                <a:srgbClr val="4385f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972800" y="7143750"/>
            <a:ext cx="2305050" cy="15049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963276" y="7524750"/>
            <a:ext cx="2295525" cy="666750"/>
          </a:xfrm>
          <a:prstGeom prst="rect">
            <a:avLst/>
          </a:prstGeom>
        </p:spPr>
        <p:txBody>
          <a:bodyPr lIns="0" tIns="63880" rIns="0" bIns="6388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700" b="0" i="0" u="none" strike="noStrike">
                <a:solidFill>
                  <a:srgbClr val="4385f4"/>
                </a:solidFill>
                <a:latin typeface="Pretendard SemiBold"/>
                <a:ea typeface="Pretendard SemiBold"/>
                <a:cs typeface="Pretendard SemiBold"/>
              </a:rPr>
              <a:t>회의실</a:t>
            </a:r>
            <a:endParaRPr lang="ko-KR" altLang="en-US" sz="3700" b="0" i="0" u="none" strike="noStrike">
              <a:solidFill>
                <a:srgbClr val="4385f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896600" y="5391150"/>
            <a:ext cx="2305050" cy="150495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0963276" y="5772150"/>
            <a:ext cx="2295525" cy="666750"/>
          </a:xfrm>
          <a:prstGeom prst="rect">
            <a:avLst/>
          </a:prstGeom>
        </p:spPr>
        <p:txBody>
          <a:bodyPr lIns="0" tIns="63880" rIns="0" bIns="6388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700" b="0" i="0" u="none" strike="noStrike">
                <a:solidFill>
                  <a:srgbClr val="4385f4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endParaRPr lang="ko-KR" altLang="en-US" sz="3700" b="0" i="0" u="none" strike="noStrike">
              <a:solidFill>
                <a:srgbClr val="4385f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210800" y="4619624"/>
            <a:ext cx="781050" cy="2809875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419975" y="5143500"/>
            <a:ext cx="2790825" cy="18288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7391400" y="5600700"/>
            <a:ext cx="2781300" cy="809625"/>
          </a:xfrm>
          <a:prstGeom prst="rect">
            <a:avLst/>
          </a:prstGeom>
        </p:spPr>
        <p:txBody>
          <a:bodyPr lIns="0" tIns="77396" rIns="0" bIns="77396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4500" b="0" i="0" u="none" strike="noStrike">
                <a:solidFill>
                  <a:srgbClr val="4385f4"/>
                </a:solidFill>
                <a:latin typeface="Pretendard SemiBold"/>
                <a:ea typeface="Pretendard SemiBold"/>
                <a:cs typeface="Pretendard SemiBold"/>
              </a:rPr>
              <a:t>일정</a:t>
            </a:r>
            <a:endParaRPr lang="ko-KR" altLang="en-US" sz="4500" b="0" i="0" u="none" strike="noStrike">
              <a:solidFill>
                <a:srgbClr val="4385f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16" name="Picture 14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066800" y="5143500"/>
            <a:ext cx="2790825" cy="1828800"/>
          </a:xfrm>
          <a:prstGeom prst="rect">
            <a:avLst/>
          </a:prstGeom>
        </p:spPr>
      </p:pic>
      <p:sp>
        <p:nvSpPr>
          <p:cNvPr id="17" name="TextBox 15"/>
          <p:cNvSpPr txBox="1"/>
          <p:nvPr/>
        </p:nvSpPr>
        <p:spPr>
          <a:xfrm>
            <a:off x="1104900" y="5629275"/>
            <a:ext cx="2781300" cy="809625"/>
          </a:xfrm>
          <a:prstGeom prst="rect">
            <a:avLst/>
          </a:prstGeom>
        </p:spPr>
        <p:txBody>
          <a:bodyPr lIns="0" tIns="77396" rIns="0" bIns="77396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4500" b="0" i="0" u="none" strike="noStrike">
                <a:solidFill>
                  <a:srgbClr val="4385f4"/>
                </a:solidFill>
                <a:latin typeface="Pretendard SemiBold"/>
                <a:ea typeface="Pretendard SemiBold"/>
                <a:cs typeface="Pretendard SemiBold"/>
              </a:rPr>
              <a:t>시큐리티</a:t>
            </a:r>
            <a:endParaRPr lang="ko-KR" altLang="en-US" sz="4500" b="0" i="0" u="none" strike="noStrike">
              <a:solidFill>
                <a:srgbClr val="4385f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18" name="Picture 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4705350" y="3638550"/>
            <a:ext cx="2305050" cy="1504950"/>
          </a:xfrm>
          <a:prstGeom prst="rect">
            <a:avLst/>
          </a:prstGeom>
        </p:spPr>
      </p:pic>
      <p:sp>
        <p:nvSpPr>
          <p:cNvPr id="19" name="TextBox 8"/>
          <p:cNvSpPr txBox="1"/>
          <p:nvPr/>
        </p:nvSpPr>
        <p:spPr>
          <a:xfrm>
            <a:off x="4791075" y="4076700"/>
            <a:ext cx="2295525" cy="666750"/>
          </a:xfrm>
          <a:prstGeom prst="rect">
            <a:avLst/>
          </a:prstGeom>
        </p:spPr>
        <p:txBody>
          <a:bodyPr lIns="0" tIns="63880" rIns="0" bIns="6388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700" b="0" i="0" u="none" strike="noStrike">
                <a:solidFill>
                  <a:srgbClr val="4385f4"/>
                </a:solidFill>
                <a:latin typeface="Pretendard SemiBold"/>
                <a:ea typeface="Pretendard SemiBold"/>
                <a:cs typeface="Pretendard SemiBold"/>
              </a:rPr>
              <a:t>회원가입</a:t>
            </a:r>
            <a:endParaRPr lang="ko-KR" altLang="en-US" sz="3700" b="0" i="0" u="none" strike="noStrike">
              <a:solidFill>
                <a:srgbClr val="4385f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0" name="Picture 7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705350" y="5372100"/>
            <a:ext cx="2305050" cy="1504950"/>
          </a:xfrm>
          <a:prstGeom prst="rect">
            <a:avLst/>
          </a:prstGeom>
        </p:spPr>
      </p:pic>
      <p:sp>
        <p:nvSpPr>
          <p:cNvPr id="21" name="TextBox 8"/>
          <p:cNvSpPr txBox="1"/>
          <p:nvPr/>
        </p:nvSpPr>
        <p:spPr>
          <a:xfrm>
            <a:off x="4638675" y="5753100"/>
            <a:ext cx="2295525" cy="666750"/>
          </a:xfrm>
          <a:prstGeom prst="rect">
            <a:avLst/>
          </a:prstGeom>
        </p:spPr>
        <p:txBody>
          <a:bodyPr lIns="0" tIns="63880" rIns="0" bIns="6388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700" b="0" i="0" u="none" strike="noStrike">
                <a:solidFill>
                  <a:srgbClr val="4385f4"/>
                </a:solidFill>
                <a:latin typeface="Pretendard SemiBold"/>
                <a:ea typeface="Pretendard SemiBold"/>
                <a:cs typeface="Pretendard SemiBold"/>
              </a:rPr>
              <a:t>로그인 </a:t>
            </a:r>
            <a:endParaRPr lang="ko-KR" altLang="en-US" sz="3700" b="0" i="0" u="none" strike="noStrike">
              <a:solidFill>
                <a:srgbClr val="4385f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2" name="Picture 7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4705350" y="7124700"/>
            <a:ext cx="2305050" cy="1504950"/>
          </a:xfrm>
          <a:prstGeom prst="rect">
            <a:avLst/>
          </a:prstGeom>
        </p:spPr>
      </p:pic>
      <p:sp>
        <p:nvSpPr>
          <p:cNvPr id="23" name="TextBox 8"/>
          <p:cNvSpPr txBox="1"/>
          <p:nvPr/>
        </p:nvSpPr>
        <p:spPr>
          <a:xfrm>
            <a:off x="4714875" y="7581900"/>
            <a:ext cx="2295525" cy="666750"/>
          </a:xfrm>
          <a:prstGeom prst="rect">
            <a:avLst/>
          </a:prstGeom>
        </p:spPr>
        <p:txBody>
          <a:bodyPr lIns="0" tIns="63880" rIns="0" bIns="6388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700" b="0" i="0" u="none" strike="noStrike">
                <a:solidFill>
                  <a:srgbClr val="4385f4"/>
                </a:solidFill>
                <a:latin typeface="Pretendard SemiBold"/>
                <a:ea typeface="Pretendard SemiBold"/>
                <a:cs typeface="Pretendard SemiBold"/>
              </a:rPr>
              <a:t>세션설정 </a:t>
            </a:r>
            <a:endParaRPr lang="ko-KR" altLang="en-US" sz="3700" b="0" i="0" u="none" strike="noStrike">
              <a:solidFill>
                <a:srgbClr val="4385f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4" name="Picture 13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3810000" y="4686300"/>
            <a:ext cx="914400" cy="3200400"/>
          </a:xfrm>
          <a:prstGeom prst="rect">
            <a:avLst/>
          </a:prstGeom>
        </p:spPr>
      </p:pic>
      <p:pic>
        <p:nvPicPr>
          <p:cNvPr id="25" name="Picture 14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4354173" y="5143500"/>
            <a:ext cx="2790825" cy="1828800"/>
          </a:xfrm>
          <a:prstGeom prst="rect">
            <a:avLst/>
          </a:prstGeom>
        </p:spPr>
      </p:pic>
      <p:sp>
        <p:nvSpPr>
          <p:cNvPr id="26" name="TextBox 15"/>
          <p:cNvSpPr txBox="1"/>
          <p:nvPr/>
        </p:nvSpPr>
        <p:spPr>
          <a:xfrm>
            <a:off x="14325600" y="5629275"/>
            <a:ext cx="2781300" cy="809625"/>
          </a:xfrm>
          <a:prstGeom prst="rect">
            <a:avLst/>
          </a:prstGeom>
        </p:spPr>
        <p:txBody>
          <a:bodyPr lIns="0" tIns="77396" rIns="0" bIns="77396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4500" b="0" i="0" u="none" strike="noStrike">
                <a:solidFill>
                  <a:srgbClr val="4385f4"/>
                </a:solidFill>
                <a:latin typeface="Pretendard SemiBold"/>
                <a:ea typeface="Pretendard SemiBold"/>
                <a:cs typeface="Pretendard SemiBold"/>
              </a:rPr>
              <a:t>AI</a:t>
            </a:r>
            <a:r>
              <a:rPr lang="ko-KR" altLang="en-US" sz="4500" b="0" i="0" u="none" strike="noStrike">
                <a:solidFill>
                  <a:srgbClr val="4385f4"/>
                </a:solidFill>
                <a:latin typeface="Pretendard SemiBold"/>
                <a:ea typeface="Pretendard SemiBold"/>
                <a:cs typeface="Pretendard SemiBold"/>
              </a:rPr>
              <a:t> 챗봇</a:t>
            </a:r>
            <a:endParaRPr lang="ko-KR" altLang="en-US" sz="4500" b="0" i="0" u="none" strike="noStrike">
              <a:solidFill>
                <a:srgbClr val="4385f4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232537450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1587500"/>
            <a:ext cx="169418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3100" y="1587500"/>
            <a:ext cx="16941800" cy="8496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39800" y="482600"/>
            <a:ext cx="55372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6000" b="1" i="0" u="none" strike="noStrike" spc="-600">
                <a:solidFill>
                  <a:srgbClr val="2a47ff"/>
                </a:solidFill>
                <a:latin typeface="Pretendard ExtraBold"/>
              </a:rPr>
              <a:t>담당 파트 </a:t>
            </a:r>
            <a:r>
              <a:rPr lang="en-US" sz="6000" b="1" i="0" u="none" strike="noStrike" spc="-600">
                <a:solidFill>
                  <a:srgbClr val="2a47ff"/>
                </a:solidFill>
                <a:latin typeface="Pretendard ExtraBold"/>
              </a:rPr>
              <a:t>ERD</a:t>
            </a:r>
            <a:endParaRPr lang="en-US" sz="6000" b="1" i="0" u="none" strike="noStrike" spc="-600">
              <a:solidFill>
                <a:srgbClr val="2a47ff"/>
              </a:solidFill>
              <a:latin typeface="Pretendard Extra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912600" y="825500"/>
            <a:ext cx="57023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99600"/>
              </a:lnSpc>
              <a:defRPr/>
            </a:pP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LLM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을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활용한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IT HR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웹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솔루션</a:t>
            </a:r>
            <a:endParaRPr lang="ko-KR" sz="2400" b="1" i="0" u="none" strike="noStrike" spc="-100">
              <a:solidFill>
                <a:srgbClr val="2a47ff"/>
              </a:solidFill>
              <a:ea typeface="Pretendard ExtraBold"/>
            </a:endParaRPr>
          </a:p>
        </p:txBody>
      </p:sp>
      <p:sp>
        <p:nvSpPr>
          <p:cNvPr name="TextBox 7" id="7"/>
          <p:cNvSpPr txBox="true"/>
          <p:nvPr/>
        </p:nvSpPr>
        <p:spPr>
          <a:xfrm rot="0">
            <a:off x="12166600" y="7213600"/>
            <a:ext cx="58166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0269"/>
              </a:lnSpc>
            </a:pPr>
            <a:r>
              <a:rPr lang="en-US" sz="4000" b="false" i="false" u="none" strike="noStrike" spc="-400">
                <a:solidFill>
                  <a:srgbClr val="FFFFFF"/>
                </a:solidFill>
                <a:latin typeface="Pretendard Regular"/>
              </a:rPr>
              <a:t>RAG</a:t>
            </a: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9" name="Picture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05600" y="6121400"/>
            <a:ext cx="4318000" cy="3594100"/>
          </a:xfrm>
          <a:prstGeom prst="rect">
            <a:avLst/>
          </a:prstGeom>
          <a:effectLst>
            <a:outerShdw blurRad="509952" dist="199156" dir="2700000">
              <a:srgbClr val="2a47ff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3100" y="1587500"/>
            <a:ext cx="169418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>
            <a:alphaModFix/>
            <a:lum/>
          </a:blip>
          <a:stretch>
            <a:fillRect/>
          </a:stretch>
        </p:blipFill>
        <p:spPr>
          <a:xfrm>
            <a:off x="6731000" y="2095499"/>
            <a:ext cx="4318000" cy="3429000"/>
          </a:xfrm>
          <a:prstGeom prst="rect">
            <a:avLst/>
          </a:prstGeom>
          <a:noFill/>
          <a:ln>
            <a:noFill/>
          </a:ln>
          <a:effectLst>
            <a:outerShdw blurRad="509952" dist="199156" dir="2700000">
              <a:srgbClr val="2a47ff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62000" y="6667500"/>
            <a:ext cx="5422900" cy="2743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39800" y="482600"/>
            <a:ext cx="61341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6000" b="1" i="0" u="none" strike="noStrike" spc="-600">
                <a:solidFill>
                  <a:srgbClr val="2a47ff"/>
                </a:solidFill>
                <a:ea typeface="Pretendard ExtraBold"/>
              </a:rPr>
              <a:t>회원가입</a:t>
            </a:r>
            <a:endParaRPr lang="ko-KR" sz="6000" b="1" i="0" u="none" strike="noStrike" spc="-600">
              <a:solidFill>
                <a:srgbClr val="2a47ff"/>
              </a:solidFill>
              <a:ea typeface="Pretendard Extra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912600" y="825500"/>
            <a:ext cx="57023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99600"/>
              </a:lnSpc>
              <a:defRPr/>
            </a:pP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LLM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을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활용한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IT HR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웹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솔루션</a:t>
            </a:r>
            <a:endParaRPr lang="ko-KR" sz="2400" b="1" i="0" u="none" strike="noStrike" spc="-100">
              <a:solidFill>
                <a:srgbClr val="2a47ff"/>
              </a:solidFill>
              <a:ea typeface="Pretendard Extra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934200" y="2324100"/>
            <a:ext cx="3962400" cy="3048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ko-KR" altLang="en-US" sz="3300" b="0" i="0" u="none" strike="noStrike">
                <a:solidFill>
                  <a:srgbClr val="ffffff"/>
                </a:solidFill>
                <a:ea typeface="Pretendard Regular"/>
              </a:rPr>
              <a:t>관리자 </a:t>
            </a:r>
            <a:r>
              <a:rPr lang="ko-KR" sz="3300" b="0" i="0" u="none" strike="noStrike">
                <a:solidFill>
                  <a:srgbClr val="ffffff"/>
                </a:solidFill>
                <a:ea typeface="Pretendard Regular"/>
              </a:rPr>
              <a:t>가입</a:t>
            </a:r>
            <a:endParaRPr lang="ko-KR" sz="33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관</a:t>
            </a:r>
            <a:r>
              <a:rPr lang="ko-KR" altLang="en-US" sz="3000" b="0" i="0" u="none" strike="noStrike">
                <a:solidFill>
                  <a:srgbClr val="ffffff"/>
                </a:solidFill>
                <a:ea typeface="Pretendard Regular"/>
              </a:rPr>
              <a:t>리자는 일반 가입</a:t>
            </a:r>
            <a:endParaRPr lang="ko-KR" altLang="en-US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en-US" altLang="ko-KR" sz="2800" b="0" i="0" u="none" strike="noStrike">
                <a:solidFill>
                  <a:srgbClr val="ffffff"/>
                </a:solidFill>
                <a:ea typeface="Pretendard Regular"/>
              </a:rPr>
              <a:t>PasswordEncoder</a:t>
            </a:r>
            <a:r>
              <a:rPr lang="ko-KR" altLang="en-US" sz="2800" b="0" i="0" u="none" strike="noStrike">
                <a:solidFill>
                  <a:srgbClr val="ffffff"/>
                </a:solidFill>
                <a:ea typeface="Pretendard Regular"/>
              </a:rPr>
              <a:t> 활용한 비밀번호 암호화</a:t>
            </a:r>
            <a:endParaRPr lang="ko-KR" altLang="en-US" sz="28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0" lvl="0" indent="0" algn="l">
              <a:lnSpc>
                <a:spcPct val="140269"/>
              </a:lnSpc>
              <a:buClr>
                <a:srgbClr val="ffffff"/>
              </a:buClr>
              <a:buFont typeface="Arial"/>
              <a:buNone/>
              <a:defRPr/>
            </a:pPr>
            <a:endParaRPr lang="en-US" altLang="ko-KR" sz="3000" b="0" i="0" u="none" strike="noStrike">
              <a:solidFill>
                <a:srgbClr val="ffffff"/>
              </a:solidFill>
              <a:ea typeface="Pretendard Regular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1277599" y="6134100"/>
            <a:ext cx="6248400" cy="3581400"/>
          </a:xfrm>
          <a:prstGeom prst="rect">
            <a:avLst/>
          </a:prstGeom>
        </p:spPr>
      </p:pic>
      <p:sp>
        <p:nvSpPr>
          <p:cNvPr id="16" name="TextBox 10"/>
          <p:cNvSpPr txBox="1"/>
          <p:nvPr/>
        </p:nvSpPr>
        <p:spPr>
          <a:xfrm>
            <a:off x="6858000" y="6286500"/>
            <a:ext cx="4000500" cy="3048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ko-KR" altLang="en-US" sz="3300" b="0" i="0" u="none" strike="noStrike">
                <a:solidFill>
                  <a:srgbClr val="ffffff"/>
                </a:solidFill>
                <a:ea typeface="Pretendard Regular"/>
              </a:rPr>
              <a:t>사원 가입</a:t>
            </a:r>
            <a:endParaRPr lang="ko-KR" altLang="en-US" sz="33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ea typeface="Pretendard Regular"/>
              </a:rPr>
              <a:t>관리자가 사원을 초대</a:t>
            </a:r>
            <a:endParaRPr lang="ko-KR" altLang="en-US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en-US" altLang="ko-KR" sz="3000" b="0" i="0" u="none" strike="noStrike">
                <a:solidFill>
                  <a:srgbClr val="ffffff"/>
                </a:solidFill>
                <a:ea typeface="Pretendard Regular"/>
              </a:rPr>
              <a:t>JavaMailSender</a:t>
            </a:r>
            <a:r>
              <a:rPr lang="ko-KR" altLang="en-US" sz="3000" b="0" i="0" u="none" strike="noStrike">
                <a:solidFill>
                  <a:srgbClr val="ffffff"/>
                </a:solidFill>
                <a:ea typeface="Pretendard Regular"/>
              </a:rPr>
              <a:t> 통한 </a:t>
            </a:r>
            <a:r>
              <a:rPr lang="en-US" altLang="ko-KR" sz="3000" b="0" i="0" u="none" strike="noStrike">
                <a:solidFill>
                  <a:srgbClr val="ffffff"/>
                </a:solidFill>
                <a:ea typeface="Pretendard Regular"/>
              </a:rPr>
              <a:t>SMTP</a:t>
            </a:r>
            <a:r>
              <a:rPr lang="ko-KR" altLang="en-US" sz="3000" b="0" i="0" u="none" strike="noStrike">
                <a:solidFill>
                  <a:srgbClr val="ffffff"/>
                </a:solidFill>
                <a:ea typeface="Pretendard Regular"/>
              </a:rPr>
              <a:t>방식 메일 발송</a:t>
            </a:r>
            <a:endParaRPr lang="ko-KR" altLang="en-US" sz="3000" b="0" i="0" u="none" strike="noStrike">
              <a:solidFill>
                <a:srgbClr val="ffffff"/>
              </a:solidFill>
              <a:ea typeface="Pretendard Regular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136500" y="2019300"/>
            <a:ext cx="4807099" cy="36576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296368" y="2019300"/>
            <a:ext cx="6229632" cy="35498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1587500"/>
            <a:ext cx="169418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33400" y="1790700"/>
            <a:ext cx="6781800" cy="6337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696200" y="6819900"/>
            <a:ext cx="9804400" cy="2590800"/>
          </a:xfrm>
          <a:prstGeom prst="rect">
            <a:avLst/>
          </a:prstGeom>
          <a:effectLst>
            <a:outerShdw blurRad="509952" dist="199156" dir="2700000">
              <a:srgbClr val="2a47ff">
                <a:alpha val="5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939800" y="482600"/>
            <a:ext cx="92710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6000" b="1" i="0" u="none" strike="noStrike" spc="-600">
                <a:solidFill>
                  <a:srgbClr val="2a47ff"/>
                </a:solidFill>
                <a:ea typeface="Pretendard ExtraBold"/>
              </a:rPr>
              <a:t>로그인 및 스프링 시큐리티</a:t>
            </a:r>
            <a:endParaRPr lang="ko-KR" altLang="en-US" sz="6000" b="1" i="0" u="none" strike="noStrike" spc="-600">
              <a:solidFill>
                <a:srgbClr val="2a47ff"/>
              </a:solidFill>
              <a:ea typeface="Pretendard Extra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912600" y="825500"/>
            <a:ext cx="57023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99600"/>
              </a:lnSpc>
              <a:defRPr/>
            </a:pP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LLM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을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활용한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IT HR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웹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솔루션</a:t>
            </a:r>
            <a:endParaRPr lang="ko-KR" sz="2400" b="1" i="0" u="none" strike="noStrike" spc="-100">
              <a:solidFill>
                <a:srgbClr val="2a47ff"/>
              </a:solidFill>
              <a:ea typeface="Pretendard Extra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772399" y="7048500"/>
            <a:ext cx="9982201" cy="2590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ko-KR" altLang="en-US" sz="2700" b="0" i="0" u="none" strike="noStrike">
                <a:solidFill>
                  <a:srgbClr val="ffffff"/>
                </a:solidFill>
                <a:latin typeface="Pretendard Regular"/>
                <a:ea typeface="Pretendard Regular"/>
              </a:rPr>
              <a:t>백엔드</a:t>
            </a:r>
            <a:r>
              <a:rPr lang="en-US" altLang="ko-KR" sz="2700" b="0" i="0" u="none" strike="noStrike">
                <a:solidFill>
                  <a:srgbClr val="ffffff"/>
                </a:solidFill>
                <a:latin typeface="Pretendard Regular"/>
                <a:ea typeface="Pretendard Regular"/>
              </a:rPr>
              <a:t>:@PreAuthorize </a:t>
            </a:r>
            <a:r>
              <a:rPr lang="ko-KR" altLang="en-US" sz="2700" b="0" i="0" u="none" strike="noStrike">
                <a:solidFill>
                  <a:srgbClr val="ffffff"/>
                </a:solidFill>
                <a:latin typeface="Pretendard Regular"/>
                <a:ea typeface="Pretendard Regular"/>
              </a:rPr>
              <a:t>어노테이션으로 메서드별 접근 권한 통제</a:t>
            </a:r>
            <a:endParaRPr lang="ko-KR" altLang="en-US" sz="27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r>
              <a:rPr lang="en-US" altLang="ko-KR" sz="2700" b="0" i="0" u="none" strike="noStrike">
                <a:solidFill>
                  <a:srgbClr val="ffffff"/>
                </a:solidFill>
                <a:latin typeface="Pretendard Regular"/>
                <a:ea typeface="Pretendard Regular"/>
              </a:rPr>
              <a:t>      ex)</a:t>
            </a:r>
            <a:r>
              <a:rPr lang="ko-KR" altLang="en-US" sz="2700" b="0" i="0" u="none" strike="noStrike">
                <a:solidFill>
                  <a:srgbClr val="ffffff"/>
                </a:solidFill>
                <a:latin typeface="Pretendard Regular"/>
                <a:ea typeface="Pretendard Regular"/>
              </a:rPr>
              <a:t>관리자는 생성</a:t>
            </a:r>
            <a:r>
              <a:rPr lang="en-US" altLang="ko-KR" sz="2700" b="0" i="0" u="none" strike="noStrike">
                <a:solidFill>
                  <a:srgbClr val="ffffff"/>
                </a:solidFill>
                <a:latin typeface="Pretendard Regular"/>
                <a:ea typeface="Pretendard Regular"/>
              </a:rPr>
              <a:t>,</a:t>
            </a:r>
            <a:r>
              <a:rPr lang="ko-KR" altLang="en-US" sz="2700" b="0" i="0" u="none" strike="noStrike">
                <a:solidFill>
                  <a:srgbClr val="ffffff"/>
                </a:solidFill>
                <a:latin typeface="Pretendard Regular"/>
                <a:ea typeface="Pretendard Regular"/>
              </a:rPr>
              <a:t>수정</a:t>
            </a:r>
            <a:r>
              <a:rPr lang="en-US" altLang="ko-KR" sz="2700" b="0" i="0" u="none" strike="noStrike">
                <a:solidFill>
                  <a:srgbClr val="ffffff"/>
                </a:solidFill>
                <a:latin typeface="Pretendard Regular"/>
                <a:ea typeface="Pretendard Regular"/>
              </a:rPr>
              <a:t>,</a:t>
            </a:r>
            <a:r>
              <a:rPr lang="ko-KR" altLang="en-US" sz="2700" b="0" i="0" u="none" strike="noStrike">
                <a:solidFill>
                  <a:srgbClr val="ffffff"/>
                </a:solidFill>
                <a:latin typeface="Pretendard Regular"/>
                <a:ea typeface="Pretendard Regular"/>
              </a:rPr>
              <a:t>삭제</a:t>
            </a:r>
            <a:r>
              <a:rPr lang="en-US" altLang="ko-KR" sz="2700" b="0" i="0" u="none" strike="noStrike">
                <a:solidFill>
                  <a:srgbClr val="ffffff"/>
                </a:solidFill>
                <a:latin typeface="Pretendard Regular"/>
                <a:ea typeface="Pretendard Regular"/>
              </a:rPr>
              <a:t>,</a:t>
            </a:r>
            <a:r>
              <a:rPr lang="ko-KR" altLang="en-US" sz="2700" b="0" i="0" u="none" strike="noStrike">
                <a:solidFill>
                  <a:srgbClr val="ffffff"/>
                </a:solidFill>
                <a:latin typeface="Pretendard Regular"/>
                <a:ea typeface="Pretendard Regular"/>
              </a:rPr>
              <a:t>조회 가능 </a:t>
            </a:r>
            <a:endParaRPr lang="ko-KR" altLang="en-US" sz="27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r>
              <a:rPr lang="ko-KR" altLang="en-US" sz="2700" b="0" i="0" u="none" strike="noStrike">
                <a:solidFill>
                  <a:srgbClr val="ffffff"/>
                </a:solidFill>
                <a:latin typeface="Pretendard Regular"/>
                <a:ea typeface="Pretendard Regular"/>
              </a:rPr>
              <a:t>           일반사원은 조회만 가능</a:t>
            </a:r>
            <a:endParaRPr lang="ko-KR" altLang="en-US" sz="27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27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696200" y="2095500"/>
            <a:ext cx="5127685" cy="97473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696200" y="4448139"/>
            <a:ext cx="9753600" cy="2219361"/>
          </a:xfrm>
          <a:prstGeom prst="rect">
            <a:avLst/>
          </a:prstGeom>
        </p:spPr>
      </p:pic>
      <p:pic>
        <p:nvPicPr>
          <p:cNvPr id="14" name="Picture 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620000" y="3162300"/>
            <a:ext cx="9829800" cy="1066800"/>
          </a:xfrm>
          <a:prstGeom prst="rect">
            <a:avLst/>
          </a:prstGeom>
          <a:effectLst>
            <a:outerShdw blurRad="509952" dist="199156" dir="2700000">
              <a:srgbClr val="2a47ff">
                <a:alpha val="50000"/>
              </a:srgbClr>
            </a:outerShdw>
          </a:effectLst>
        </p:spPr>
      </p:pic>
      <p:sp>
        <p:nvSpPr>
          <p:cNvPr id="15" name="TextBox 11"/>
          <p:cNvSpPr txBox="1"/>
          <p:nvPr/>
        </p:nvSpPr>
        <p:spPr>
          <a:xfrm>
            <a:off x="7772400" y="3390900"/>
            <a:ext cx="9144000" cy="990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endParaRPr lang="ko-KR" sz="33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0" lvl="0" indent="0" algn="l">
              <a:lnSpc>
                <a:spcPct val="140269"/>
              </a:lnSpc>
              <a:buClr>
                <a:srgbClr val="ffffff"/>
              </a:buClr>
              <a:buFont typeface="Arial"/>
              <a:buNone/>
              <a:defRPr/>
            </a:pPr>
            <a:r>
              <a:rPr lang="ko-KR" altLang="en-US" sz="2800" b="0" i="0" u="none" strike="noStrike">
                <a:solidFill>
                  <a:srgbClr val="ffffff"/>
                </a:solidFill>
                <a:ea typeface="Pretendard Regular"/>
              </a:rPr>
              <a:t>프론트엔드</a:t>
            </a:r>
            <a:r>
              <a:rPr lang="en-US" altLang="ko-KR" sz="2800" b="0" i="0" u="none" strike="noStrike">
                <a:solidFill>
                  <a:srgbClr val="ffffff"/>
                </a:solidFill>
                <a:ea typeface="Pretendard Regular"/>
              </a:rPr>
              <a:t>:</a:t>
            </a:r>
            <a:r>
              <a:rPr lang="ko-KR" altLang="en-US" sz="2800" b="0" i="0" u="none" strike="noStrike">
                <a:solidFill>
                  <a:srgbClr val="ffffff"/>
                </a:solidFill>
                <a:ea typeface="Pretendard Regular"/>
              </a:rPr>
              <a:t>세션 내의 역할로 페이지 및 디자인 분기</a:t>
            </a:r>
            <a:endParaRPr lang="ko-KR" altLang="en-US" sz="2800" b="0" i="0" u="none" strike="noStrike">
              <a:solidFill>
                <a:srgbClr val="ffffff"/>
              </a:solidFill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28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28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</p:txBody>
      </p:sp>
      <p:pic>
        <p:nvPicPr>
          <p:cNvPr id="16" name="Picture 5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609600" y="8343900"/>
            <a:ext cx="6629400" cy="1066800"/>
          </a:xfrm>
          <a:prstGeom prst="rect">
            <a:avLst/>
          </a:prstGeom>
          <a:effectLst>
            <a:outerShdw blurRad="509952" dist="199156" dir="2700000">
              <a:srgbClr val="2a47ff">
                <a:alpha val="50000"/>
              </a:srgbClr>
            </a:outerShdw>
          </a:effectLst>
        </p:spPr>
      </p:pic>
      <p:sp>
        <p:nvSpPr>
          <p:cNvPr id="17" name="TextBox 11"/>
          <p:cNvSpPr txBox="1"/>
          <p:nvPr/>
        </p:nvSpPr>
        <p:spPr>
          <a:xfrm>
            <a:off x="609600" y="8343900"/>
            <a:ext cx="6629400" cy="9906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0" lvl="0" indent="0" algn="l">
              <a:lnSpc>
                <a:spcPct val="140269"/>
              </a:lnSpc>
              <a:buClr>
                <a:srgbClr val="ffffff"/>
              </a:buClr>
              <a:buFont typeface="Arial"/>
              <a:buNone/>
              <a:defRPr/>
            </a:pPr>
            <a:endParaRPr lang="ko-KR" altLang="en-US" sz="28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0" lvl="0" indent="0" algn="l">
              <a:lnSpc>
                <a:spcPct val="140269"/>
              </a:lnSpc>
              <a:buClr>
                <a:srgbClr val="ffffff"/>
              </a:buClr>
              <a:buFont typeface="Arial"/>
              <a:buNone/>
              <a:defRPr/>
            </a:pPr>
            <a:r>
              <a:rPr lang="ko-KR" altLang="en-US" sz="2800" b="0" i="0" u="none" strike="noStrike">
                <a:solidFill>
                  <a:srgbClr val="ffffff"/>
                </a:solidFill>
                <a:ea typeface="Pretendard Regular"/>
              </a:rPr>
              <a:t>    </a:t>
            </a:r>
            <a:endParaRPr lang="ko-KR" altLang="en-US" sz="28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0" lvl="0" indent="0" algn="l">
              <a:lnSpc>
                <a:spcPct val="140269"/>
              </a:lnSpc>
              <a:buClr>
                <a:srgbClr val="ffffff"/>
              </a:buClr>
              <a:buFont typeface="Arial"/>
              <a:buNone/>
              <a:defRPr/>
            </a:pPr>
            <a:r>
              <a:rPr lang="ko-KR" altLang="en-US" sz="2800" b="0" i="0" u="none" strike="noStrike">
                <a:solidFill>
                  <a:srgbClr val="ffffff"/>
                </a:solidFill>
                <a:ea typeface="Pretendard Regular"/>
              </a:rPr>
              <a:t>     로그인후 직책별 시큐리티의  권한 부여</a:t>
            </a:r>
            <a:endParaRPr lang="ko-KR" altLang="en-US" sz="2800" b="0" i="0" u="none" strike="noStrike">
              <a:solidFill>
                <a:srgbClr val="ffffff"/>
              </a:solidFill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28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28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939147536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1587500"/>
            <a:ext cx="169418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487400" y="2171700"/>
            <a:ext cx="4318000" cy="7327900"/>
          </a:xfrm>
          <a:prstGeom prst="rect">
            <a:avLst/>
          </a:prstGeom>
          <a:effectLst>
            <a:outerShdw blurRad="509952" dist="199156" dir="2700000">
              <a:srgbClr val="2a47ff">
                <a:alpha val="50000"/>
              </a:srgbClr>
            </a:outerShdw>
          </a:effectLst>
        </p:spPr>
      </p:pic>
      <p:sp>
        <p:nvSpPr>
          <p:cNvPr id="6" name="TextBox 6"/>
          <p:cNvSpPr txBox="1"/>
          <p:nvPr/>
        </p:nvSpPr>
        <p:spPr>
          <a:xfrm>
            <a:off x="939800" y="482600"/>
            <a:ext cx="44323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6000" b="1" i="0" u="none" strike="noStrike" spc="-600">
                <a:solidFill>
                  <a:srgbClr val="2a47ff"/>
                </a:solidFill>
                <a:ea typeface="Pretendard ExtraBold"/>
              </a:rPr>
              <a:t>일정</a:t>
            </a:r>
            <a:r>
              <a:rPr lang="en-US" altLang="ko-KR" sz="6000" b="1" i="0" u="none" strike="noStrike" spc="-600">
                <a:solidFill>
                  <a:srgbClr val="2a47ff"/>
                </a:solidFill>
                <a:ea typeface="Pretendard ExtraBold"/>
              </a:rPr>
              <a:t> </a:t>
            </a:r>
            <a:r>
              <a:rPr lang="en-US" sz="6000" b="1" i="0" u="none" strike="noStrike" spc="-600">
                <a:solidFill>
                  <a:srgbClr val="2a47ff"/>
                </a:solidFill>
                <a:latin typeface="Pretendard ExtraBold"/>
              </a:rPr>
              <a:t>-</a:t>
            </a:r>
            <a:r>
              <a:rPr lang="en-US" altLang="ko-KR" sz="6000" b="1" i="0" u="none" strike="noStrike" spc="-6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6000" b="1" i="0" u="none" strike="noStrike" spc="-600">
                <a:solidFill>
                  <a:srgbClr val="2a47ff"/>
                </a:solidFill>
                <a:ea typeface="Pretendard ExtraBold"/>
              </a:rPr>
              <a:t>캘린더</a:t>
            </a:r>
            <a:endParaRPr lang="ko-KR" sz="6000" b="1" i="0" u="none" strike="noStrike" spc="-600">
              <a:solidFill>
                <a:srgbClr val="2a47ff"/>
              </a:solidFill>
              <a:ea typeface="Pretendard Extra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912600" y="825500"/>
            <a:ext cx="57023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99600"/>
              </a:lnSpc>
              <a:defRPr/>
            </a:pP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LLM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을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활용한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IT HR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웹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솔루션</a:t>
            </a:r>
            <a:endParaRPr lang="ko-KR" sz="2400" b="1" i="0" u="none" strike="noStrike" spc="-100">
              <a:solidFill>
                <a:srgbClr val="2a47ff"/>
              </a:solidFill>
              <a:ea typeface="Pretendard Extra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843000" y="2616200"/>
            <a:ext cx="3721100" cy="711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ko-KR" sz="4000" b="0" i="0" u="none" strike="noStrike" spc="-400">
                <a:solidFill>
                  <a:srgbClr val="ffffff"/>
                </a:solidFill>
                <a:ea typeface="Pretendard Regular"/>
              </a:rPr>
              <a:t>일정</a:t>
            </a:r>
            <a:r>
              <a:rPr lang="en-US" sz="4000" b="0" i="0" u="none" strike="noStrike" spc="-40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4000" b="0" i="0" u="none" strike="noStrike" spc="-400">
                <a:solidFill>
                  <a:srgbClr val="ffffff"/>
                </a:solidFill>
                <a:ea typeface="Pretendard Regular"/>
              </a:rPr>
              <a:t>캘린더</a:t>
            </a:r>
            <a:endParaRPr lang="ko-KR" sz="4000" b="0" i="0" u="none" strike="noStrike" spc="-400">
              <a:solidFill>
                <a:srgbClr val="ffffff"/>
              </a:solidFill>
              <a:ea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843000" y="3530600"/>
            <a:ext cx="3708400" cy="3200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기능</a:t>
            </a:r>
            <a:endParaRPr lang="ko-KR" sz="35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개인별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일정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생성</a:t>
            </a:r>
            <a:endParaRPr lang="ko-KR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프로젝트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현황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조회</a:t>
            </a:r>
            <a:endParaRPr lang="ko-KR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휴가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현황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조회</a:t>
            </a:r>
            <a:endParaRPr lang="ko-KR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lvl="1" algn="l">
              <a:lnSpc>
                <a:spcPct val="140269"/>
              </a:lnSpc>
              <a:defRPr/>
            </a:pP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843000" y="6629400"/>
            <a:ext cx="3708400" cy="2565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필터링</a:t>
            </a:r>
            <a:endParaRPr lang="ko-KR" sz="35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필터에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맞게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조회</a:t>
            </a:r>
            <a:endParaRPr lang="ko-KR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21795" y="2095500"/>
            <a:ext cx="10884404" cy="6934200"/>
          </a:xfrm>
          <a:prstGeom prst="rect">
            <a:avLst/>
          </a:prstGeom>
        </p:spPr>
      </p:pic>
      <p:cxnSp>
        <p:nvCxnSpPr>
          <p:cNvPr id="14" name="선 13"/>
          <p:cNvCxnSpPr/>
          <p:nvPr/>
        </p:nvCxnSpPr>
        <p:spPr>
          <a:xfrm rot="10800000" flipV="1">
            <a:off x="3810000" y="5448300"/>
            <a:ext cx="5867400" cy="761999"/>
          </a:xfrm>
          <a:prstGeom prst="line">
            <a:avLst/>
          </a:prstGeom>
          <a:ln>
            <a:solidFill>
              <a:schemeClr val="accent2"/>
            </a:solidFill>
          </a:ln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677400" y="5448300"/>
            <a:ext cx="3505200" cy="4114800"/>
          </a:xfrm>
          <a:prstGeom prst="rect">
            <a:avLst/>
          </a:prstGeom>
        </p:spPr>
      </p:pic>
      <p:cxnSp>
        <p:nvCxnSpPr>
          <p:cNvPr id="16" name="선 15"/>
          <p:cNvCxnSpPr/>
          <p:nvPr/>
        </p:nvCxnSpPr>
        <p:spPr>
          <a:xfrm rot="10800000">
            <a:off x="3733800" y="7505700"/>
            <a:ext cx="5943600" cy="1981200"/>
          </a:xfrm>
          <a:prstGeom prst="line">
            <a:avLst/>
          </a:prstGeom>
          <a:ln>
            <a:solidFill>
              <a:schemeClr val="accent2"/>
            </a:solidFill>
          </a:ln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" name="Picture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208000" y="6819900"/>
            <a:ext cx="4318000" cy="3009900"/>
          </a:xfrm>
          <a:prstGeom prst="rect">
            <a:avLst/>
          </a:prstGeom>
          <a:effectLst>
            <a:outerShdw blurRad="509952" dist="199156" dir="2700000">
              <a:srgbClr val="2a47ff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3100" y="1587500"/>
            <a:ext cx="169418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47700" y="1663700"/>
            <a:ext cx="12077700" cy="5080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131800" y="2019300"/>
            <a:ext cx="4318000" cy="4267200"/>
          </a:xfrm>
          <a:prstGeom prst="rect">
            <a:avLst/>
          </a:prstGeom>
          <a:effectLst>
            <a:outerShdw blurRad="509952" dist="199156" dir="2700000">
              <a:srgbClr val="2a47ff">
                <a:alpha val="50000"/>
              </a:srgbClr>
            </a:outerShdw>
          </a:effectLst>
        </p:spPr>
      </p:pic>
      <p:sp>
        <p:nvSpPr>
          <p:cNvPr id="6" name="TextBox 6"/>
          <p:cNvSpPr txBox="1"/>
          <p:nvPr/>
        </p:nvSpPr>
        <p:spPr>
          <a:xfrm>
            <a:off x="939800" y="482600"/>
            <a:ext cx="44323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6000" b="1" i="0" u="none" strike="noStrike" spc="-600">
                <a:solidFill>
                  <a:srgbClr val="2a47ff"/>
                </a:solidFill>
                <a:ea typeface="Pretendard ExtraBold"/>
              </a:rPr>
              <a:t>일정</a:t>
            </a:r>
            <a:r>
              <a:rPr lang="en-US" altLang="ko-KR" sz="6000" b="1" i="0" u="none" strike="noStrike" spc="-600">
                <a:solidFill>
                  <a:srgbClr val="2a47ff"/>
                </a:solidFill>
                <a:ea typeface="Pretendard ExtraBold"/>
              </a:rPr>
              <a:t> </a:t>
            </a:r>
            <a:r>
              <a:rPr lang="en-US" sz="6000" b="1" i="0" u="none" strike="noStrike" spc="-600">
                <a:solidFill>
                  <a:srgbClr val="2a47ff"/>
                </a:solidFill>
                <a:latin typeface="Pretendard ExtraBold"/>
              </a:rPr>
              <a:t>-</a:t>
            </a:r>
            <a:r>
              <a:rPr lang="en-US" altLang="ko-KR" sz="6000" b="1" i="0" u="none" strike="noStrike" spc="-6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6000" b="1" i="0" u="none" strike="noStrike" spc="-600">
                <a:solidFill>
                  <a:srgbClr val="2a47ff"/>
                </a:solidFill>
                <a:ea typeface="Pretendard ExtraBold"/>
              </a:rPr>
              <a:t>프로젝트</a:t>
            </a:r>
            <a:endParaRPr lang="ko-KR" sz="6000" b="1" i="0" u="none" strike="noStrike" spc="-600">
              <a:solidFill>
                <a:srgbClr val="2a47ff"/>
              </a:solidFill>
              <a:ea typeface="Pretendard Extra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912600" y="825500"/>
            <a:ext cx="57023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99600"/>
              </a:lnSpc>
              <a:defRPr/>
            </a:pP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LLM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을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활용한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IT HR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웹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솔루션</a:t>
            </a:r>
            <a:endParaRPr lang="ko-KR" sz="2400" b="1" i="0" u="none" strike="noStrike" spc="-100">
              <a:solidFill>
                <a:srgbClr val="2a47ff"/>
              </a:solidFill>
              <a:ea typeface="Pretendard Extra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271500" y="2171700"/>
            <a:ext cx="3721100" cy="711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ko-KR" sz="4000" b="0" i="0" u="none" strike="noStrike" spc="-400">
                <a:solidFill>
                  <a:srgbClr val="ffffff"/>
                </a:solidFill>
                <a:ea typeface="Pretendard Regular"/>
              </a:rPr>
              <a:t>프로젝트</a:t>
            </a:r>
            <a:endParaRPr lang="ko-KR" sz="4000" b="0" i="0" u="none" strike="noStrike" spc="-400">
              <a:solidFill>
                <a:srgbClr val="ffffff"/>
              </a:solidFill>
              <a:ea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322300" y="2552700"/>
            <a:ext cx="4051300" cy="3276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endParaRPr lang="ko-KR" sz="35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sz="2700" b="0" i="0" u="none" strike="noStrike">
                <a:solidFill>
                  <a:srgbClr val="ffffff"/>
                </a:solidFill>
                <a:ea typeface="Pretendard Regular"/>
              </a:rPr>
              <a:t>프로젝트</a:t>
            </a:r>
            <a:r>
              <a:rPr lang="en-US" sz="27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ffffff"/>
                </a:solidFill>
                <a:ea typeface="Pretendard Regular"/>
              </a:rPr>
              <a:t>개발</a:t>
            </a:r>
            <a:r>
              <a:rPr lang="en-US" sz="27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ffffff"/>
                </a:solidFill>
                <a:ea typeface="Pretendard Regular"/>
              </a:rPr>
              <a:t>기법</a:t>
            </a:r>
            <a:r>
              <a:rPr lang="en-US" sz="27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ffffff"/>
                </a:solidFill>
                <a:ea typeface="Pretendard Regular"/>
              </a:rPr>
              <a:t>선택</a:t>
            </a:r>
            <a:endParaRPr lang="ko-KR" sz="27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sz="2700" b="0" i="0" u="none" strike="noStrike">
                <a:solidFill>
                  <a:srgbClr val="ffffff"/>
                </a:solidFill>
                <a:ea typeface="Pretendard Regular"/>
              </a:rPr>
              <a:t>프로젝트</a:t>
            </a:r>
            <a:r>
              <a:rPr lang="en-US" sz="27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ffffff"/>
                </a:solidFill>
                <a:ea typeface="Pretendard Regular"/>
              </a:rPr>
              <a:t>생성</a:t>
            </a:r>
            <a:r>
              <a:rPr lang="en-US" sz="2700" b="0" i="0" u="none" strike="noStrike">
                <a:solidFill>
                  <a:srgbClr val="ffffff"/>
                </a:solidFill>
                <a:latin typeface="Pretendard Regular"/>
              </a:rPr>
              <a:t>/</a:t>
            </a:r>
            <a:r>
              <a:rPr lang="ko-KR" sz="2700" b="0" i="0" u="none" strike="noStrike">
                <a:solidFill>
                  <a:srgbClr val="ffffff"/>
                </a:solidFill>
                <a:ea typeface="Pretendard Regular"/>
              </a:rPr>
              <a:t>수정</a:t>
            </a:r>
            <a:r>
              <a:rPr lang="en-US" sz="2700" b="0" i="0" u="none" strike="noStrike">
                <a:solidFill>
                  <a:srgbClr val="ffffff"/>
                </a:solidFill>
                <a:latin typeface="Pretendard Regular"/>
              </a:rPr>
              <a:t>/</a:t>
            </a:r>
            <a:r>
              <a:rPr lang="ko-KR" sz="2700" b="0" i="0" u="none" strike="noStrike">
                <a:solidFill>
                  <a:srgbClr val="ffffff"/>
                </a:solidFill>
                <a:ea typeface="Pretendard Regular"/>
              </a:rPr>
              <a:t>삭제</a:t>
            </a:r>
            <a:endParaRPr lang="ko-KR" sz="27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sz="2700" b="0" i="0" u="none" strike="noStrike">
                <a:solidFill>
                  <a:srgbClr val="ffffff"/>
                </a:solidFill>
                <a:ea typeface="Pretendard Regular"/>
              </a:rPr>
              <a:t>프로젝트</a:t>
            </a:r>
            <a:r>
              <a:rPr lang="en-US" sz="27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ffffff"/>
                </a:solidFill>
                <a:ea typeface="Pretendard Regular"/>
              </a:rPr>
              <a:t>참여자</a:t>
            </a:r>
            <a:r>
              <a:rPr lang="en-US" sz="27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ffffff"/>
                </a:solidFill>
                <a:ea typeface="Pretendard Regular"/>
              </a:rPr>
              <a:t>배정</a:t>
            </a:r>
            <a:endParaRPr lang="ko-KR" sz="2800" b="0" i="0" u="none" strike="noStrike">
              <a:solidFill>
                <a:srgbClr val="ffffff"/>
              </a:solidFill>
              <a:ea typeface="Pretendard Regular"/>
            </a:endParaRPr>
          </a:p>
          <a:p>
            <a:pPr lvl="1" algn="l">
              <a:lnSpc>
                <a:spcPct val="140269"/>
              </a:lnSpc>
              <a:defRPr/>
            </a:pP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372100" y="8420100"/>
            <a:ext cx="7543800" cy="12954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397333" y="6896100"/>
            <a:ext cx="7493334" cy="14478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533400" y="6972300"/>
            <a:ext cx="4648200" cy="25146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3335000" y="7162801"/>
            <a:ext cx="4648200" cy="3124199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ko-KR" altLang="en-US" sz="3500" b="0" i="0" u="none" strike="noStrike">
                <a:solidFill>
                  <a:srgbClr val="ffffff"/>
                </a:solidFill>
                <a:ea typeface="Pretendard Regular"/>
              </a:rPr>
              <a:t>페이징 및 검색</a:t>
            </a:r>
            <a:endParaRPr lang="ko-KR" altLang="en-US" sz="35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altLang="en-US" sz="2800" b="0" i="0" u="none" strike="noStrike">
                <a:solidFill>
                  <a:srgbClr val="ffffff"/>
                </a:solidFill>
                <a:ea typeface="Pretendard Regular"/>
              </a:rPr>
              <a:t>페이징 및 검색을 위한 리파지토리</a:t>
            </a:r>
            <a:r>
              <a:rPr lang="en-US" altLang="ko-KR" sz="2800" b="0" i="0" u="none" strike="noStrike">
                <a:solidFill>
                  <a:srgbClr val="ffffff"/>
                </a:solidFill>
                <a:ea typeface="Pretendard Regular"/>
              </a:rPr>
              <a:t>,</a:t>
            </a:r>
            <a:r>
              <a:rPr lang="ko-KR" altLang="en-US" sz="2800" b="0" i="0" u="none" strike="noStrike">
                <a:solidFill>
                  <a:srgbClr val="ffffff"/>
                </a:solidFill>
                <a:ea typeface="Pretendard Regular"/>
              </a:rPr>
              <a:t>서비스</a:t>
            </a:r>
            <a:endParaRPr lang="ko-KR" altLang="en-US" sz="28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0" lvl="0" indent="0" algn="l">
              <a:lnSpc>
                <a:spcPct val="140269"/>
              </a:lnSpc>
              <a:buClr>
                <a:srgbClr val="ffffff"/>
              </a:buClr>
              <a:buFont typeface="Arial"/>
              <a:buNone/>
              <a:defRPr/>
            </a:pPr>
            <a:r>
              <a:rPr lang="ko-KR" altLang="en-US" sz="2800" b="0" i="0" u="none" strike="noStrike">
                <a:solidFill>
                  <a:srgbClr val="ffffff"/>
                </a:solidFill>
                <a:ea typeface="Pretendard Regular"/>
              </a:rPr>
              <a:t>    </a:t>
            </a:r>
            <a:r>
              <a:rPr lang="en-US" altLang="ko-KR" sz="2800" b="0" i="0" u="none" strike="noStrike">
                <a:solidFill>
                  <a:srgbClr val="ffffff"/>
                </a:solidFill>
                <a:ea typeface="Pretendard Regular"/>
              </a:rPr>
              <a:t>,</a:t>
            </a:r>
            <a:r>
              <a:rPr lang="ko-KR" altLang="en-US" sz="2800" b="0" i="0" u="none" strike="noStrike">
                <a:solidFill>
                  <a:srgbClr val="ffffff"/>
                </a:solidFill>
                <a:ea typeface="Pretendard Regular"/>
              </a:rPr>
              <a:t>컨트롤러 설계</a:t>
            </a:r>
            <a:endParaRPr lang="ko-KR" altLang="en-US" sz="2800" b="0" i="0" u="none" strike="noStrike">
              <a:solidFill>
                <a:srgbClr val="ffffff"/>
              </a:solidFill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73099" y="1181100"/>
            <a:ext cx="169418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3284200" y="1866900"/>
            <a:ext cx="4318000" cy="4876800"/>
          </a:xfrm>
          <a:prstGeom prst="rect">
            <a:avLst/>
          </a:prstGeom>
          <a:effectLst>
            <a:outerShdw blurRad="509952" dist="199156" dir="2700000">
              <a:srgbClr val="2a47ff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98500" y="1333500"/>
            <a:ext cx="11722100" cy="5410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39800" y="190500"/>
            <a:ext cx="72898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6000" b="1" i="0" u="none" strike="noStrike" spc="-600">
                <a:solidFill>
                  <a:srgbClr val="2a47ff"/>
                </a:solidFill>
                <a:ea typeface="Pretendard ExtraBold"/>
              </a:rPr>
              <a:t>일정</a:t>
            </a:r>
            <a:r>
              <a:rPr lang="en-US" altLang="ko-KR" sz="6000" b="1" i="0" u="none" strike="noStrike" spc="-600">
                <a:solidFill>
                  <a:srgbClr val="2a47ff"/>
                </a:solidFill>
                <a:ea typeface="Pretendard ExtraBold"/>
              </a:rPr>
              <a:t> </a:t>
            </a:r>
            <a:r>
              <a:rPr lang="en-US" sz="6000" b="1" i="0" u="none" strike="noStrike" spc="-600">
                <a:solidFill>
                  <a:srgbClr val="2a47ff"/>
                </a:solidFill>
                <a:latin typeface="Pretendard ExtraBold"/>
              </a:rPr>
              <a:t>-</a:t>
            </a:r>
            <a:r>
              <a:rPr lang="en-US" altLang="ko-KR" sz="6000" b="1" i="0" u="none" strike="noStrike" spc="-6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6000" b="1" i="0" u="none" strike="noStrike" spc="-600">
                <a:solidFill>
                  <a:srgbClr val="2a47ff"/>
                </a:solidFill>
                <a:ea typeface="Pretendard ExtraBold"/>
              </a:rPr>
              <a:t>프로젝트</a:t>
            </a:r>
            <a:r>
              <a:rPr lang="en-US" sz="6000" b="1" i="0" u="none" strike="noStrike" spc="-6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6000" b="1" i="0" u="none" strike="noStrike" spc="-600">
                <a:solidFill>
                  <a:srgbClr val="2a47ff"/>
                </a:solidFill>
                <a:ea typeface="Pretendard ExtraBold"/>
              </a:rPr>
              <a:t>관리</a:t>
            </a:r>
            <a:endParaRPr lang="ko-KR" sz="6000" b="1" i="0" u="none" strike="noStrike" spc="-600">
              <a:solidFill>
                <a:srgbClr val="2a47ff"/>
              </a:solidFill>
              <a:ea typeface="Pretendard Extra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963400" y="647700"/>
            <a:ext cx="57023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99600"/>
              </a:lnSpc>
              <a:defRPr/>
            </a:pP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LLM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을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활용한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IT HR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웹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솔루션</a:t>
            </a:r>
            <a:endParaRPr lang="ko-KR" sz="2400" b="1" i="0" u="none" strike="noStrike" spc="-100">
              <a:solidFill>
                <a:srgbClr val="2a47ff"/>
              </a:solidFill>
              <a:ea typeface="Pretendard Extra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487400" y="2070100"/>
            <a:ext cx="3721100" cy="711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ko-KR" sz="4000" b="0" i="0" u="none" strike="noStrike" spc="-400">
                <a:solidFill>
                  <a:srgbClr val="ffffff"/>
                </a:solidFill>
                <a:ea typeface="Pretendard Regular"/>
              </a:rPr>
              <a:t>프로젝트</a:t>
            </a:r>
            <a:r>
              <a:rPr lang="ko-KR" altLang="en-US" sz="4000" b="0" i="0" u="none" strike="noStrike" spc="-400">
                <a:solidFill>
                  <a:srgbClr val="ffffff"/>
                </a:solidFill>
                <a:ea typeface="Pretendard Regular"/>
              </a:rPr>
              <a:t> 보기</a:t>
            </a:r>
            <a:endParaRPr lang="ko-KR" altLang="en-US" sz="4000" b="0" i="0" u="none" strike="noStrike" spc="-400">
              <a:solidFill>
                <a:srgbClr val="ffffff"/>
              </a:solidFill>
              <a:ea typeface="Pretendard Regula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322300" y="2857500"/>
            <a:ext cx="4203700" cy="3124199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endParaRPr lang="ko-KR" sz="35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기법에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맞는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단계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선택</a:t>
            </a:r>
            <a:endParaRPr lang="ko-KR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단계별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설명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/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목표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추가</a:t>
            </a:r>
            <a:endParaRPr lang="ko-KR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산출물을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올리고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다운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및</a:t>
            </a:r>
            <a:r>
              <a:rPr lang="ko-KR" alt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미리보기</a:t>
            </a:r>
            <a:r>
              <a:rPr lang="ko-KR" altLang="en-US" sz="3000" b="0" i="0" u="none" strike="noStrike">
                <a:solidFill>
                  <a:srgbClr val="ffffff"/>
                </a:solidFill>
                <a:ea typeface="Pretendard Regular"/>
              </a:rPr>
              <a:t> 가능</a:t>
            </a:r>
            <a:endParaRPr lang="ko-KR" altLang="en-US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lvl="1" algn="l">
              <a:lnSpc>
                <a:spcPct val="140269"/>
              </a:lnSpc>
              <a:defRPr/>
            </a:pP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38200" y="6438900"/>
            <a:ext cx="6400802" cy="3568930"/>
          </a:xfrm>
          <a:prstGeom prst="rect">
            <a:avLst/>
          </a:prstGeom>
        </p:spPr>
      </p:pic>
      <p:cxnSp>
        <p:nvCxnSpPr>
          <p:cNvPr id="14" name="선 13"/>
          <p:cNvCxnSpPr/>
          <p:nvPr/>
        </p:nvCxnSpPr>
        <p:spPr>
          <a:xfrm rot="10800000" flipV="1">
            <a:off x="990600" y="5606606"/>
            <a:ext cx="9144000" cy="832293"/>
          </a:xfrm>
          <a:prstGeom prst="line">
            <a:avLst/>
          </a:prstGeom>
          <a:ln>
            <a:solidFill>
              <a:schemeClr val="accent2"/>
            </a:solidFill>
          </a:ln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5" name="선 14"/>
          <p:cNvCxnSpPr/>
          <p:nvPr/>
        </p:nvCxnSpPr>
        <p:spPr>
          <a:xfrm rot="5400000">
            <a:off x="6972300" y="6248400"/>
            <a:ext cx="3962400" cy="3429000"/>
          </a:xfrm>
          <a:prstGeom prst="line">
            <a:avLst/>
          </a:prstGeom>
          <a:ln>
            <a:solidFill>
              <a:schemeClr val="accent2"/>
            </a:solidFill>
          </a:ln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pic>
        <p:nvPicPr>
          <p:cNvPr id="16" name="Picture 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407400" y="7277101"/>
            <a:ext cx="4318000" cy="2590799"/>
          </a:xfrm>
          <a:prstGeom prst="rect">
            <a:avLst/>
          </a:prstGeom>
          <a:effectLst>
            <a:outerShdw blurRad="509952" dist="199156" dir="2700000">
              <a:srgbClr val="2a47ff">
                <a:alpha val="50000"/>
              </a:srgbClr>
            </a:outerShdw>
          </a:effectLst>
        </p:spPr>
      </p:pic>
      <p:sp>
        <p:nvSpPr>
          <p:cNvPr id="17" name="TextBox 9"/>
          <p:cNvSpPr txBox="1"/>
          <p:nvPr/>
        </p:nvSpPr>
        <p:spPr>
          <a:xfrm>
            <a:off x="8534400" y="7353300"/>
            <a:ext cx="3721100" cy="711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ko-KR" altLang="en-US" sz="4000" b="0" i="0" u="none" strike="noStrike" spc="-400">
                <a:solidFill>
                  <a:srgbClr val="ffffff"/>
                </a:solidFill>
                <a:ea typeface="Pretendard Regular"/>
              </a:rPr>
              <a:t>파일 업로드</a:t>
            </a:r>
            <a:endParaRPr lang="ko-KR" altLang="en-US" sz="4000" b="0" i="0" u="none" strike="noStrike" spc="-400">
              <a:solidFill>
                <a:srgbClr val="ffffff"/>
              </a:solidFill>
              <a:ea typeface="Pretendard Regular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2877800" y="7277100"/>
            <a:ext cx="4750067" cy="2514600"/>
          </a:xfrm>
          <a:prstGeom prst="rect">
            <a:avLst/>
          </a:prstGeom>
        </p:spPr>
      </p:pic>
      <p:sp>
        <p:nvSpPr>
          <p:cNvPr id="19" name="TextBox 10"/>
          <p:cNvSpPr txBox="1"/>
          <p:nvPr/>
        </p:nvSpPr>
        <p:spPr>
          <a:xfrm>
            <a:off x="8521700" y="7810500"/>
            <a:ext cx="4203700" cy="2019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endParaRPr lang="ko-KR" sz="35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en-US" altLang="ko-KR" sz="3000" b="0" i="0" u="none" strike="noStrike">
                <a:solidFill>
                  <a:srgbClr val="ffffff"/>
                </a:solidFill>
                <a:ea typeface="Pretendard Regular"/>
              </a:rPr>
              <a:t>HTTP Mulipart File</a:t>
            </a:r>
            <a:r>
              <a:rPr lang="ko-KR" altLang="en-US" sz="3000" b="0" i="0" u="none" strike="noStrike">
                <a:solidFill>
                  <a:srgbClr val="ffffff"/>
                </a:solidFill>
                <a:ea typeface="Pretendard Regular"/>
              </a:rPr>
              <a:t> 업로드 사용</a:t>
            </a:r>
            <a:endParaRPr lang="ko-KR" altLang="en-US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lvl="1" algn="l">
              <a:lnSpc>
                <a:spcPct val="140269"/>
              </a:lnSpc>
              <a:defRPr/>
            </a:pP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1587500"/>
            <a:ext cx="169418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096000" y="2006600"/>
            <a:ext cx="7543800" cy="778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3792200" y="1943100"/>
            <a:ext cx="4318000" cy="4800600"/>
          </a:xfrm>
          <a:prstGeom prst="rect">
            <a:avLst/>
          </a:prstGeom>
          <a:effectLst>
            <a:outerShdw blurRad="509952" dist="199156" dir="2700000">
              <a:srgbClr val="2a47ff">
                <a:alpha val="5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939800" y="482600"/>
            <a:ext cx="72898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6000" b="1" i="0" u="none" strike="noStrike" spc="-600">
                <a:solidFill>
                  <a:srgbClr val="2a47ff"/>
                </a:solidFill>
                <a:ea typeface="Pretendard ExtraBold"/>
              </a:rPr>
              <a:t>일정</a:t>
            </a:r>
            <a:r>
              <a:rPr lang="en-US" altLang="ko-KR" sz="6000" b="1" i="0" u="none" strike="noStrike" spc="-600">
                <a:solidFill>
                  <a:srgbClr val="2a47ff"/>
                </a:solidFill>
                <a:ea typeface="Pretendard ExtraBold"/>
              </a:rPr>
              <a:t> </a:t>
            </a:r>
            <a:r>
              <a:rPr lang="en-US" sz="6000" b="1" i="0" u="none" strike="noStrike" spc="-600">
                <a:solidFill>
                  <a:srgbClr val="2a47ff"/>
                </a:solidFill>
                <a:latin typeface="Pretendard ExtraBold"/>
              </a:rPr>
              <a:t>-</a:t>
            </a:r>
            <a:r>
              <a:rPr lang="en-US" altLang="ko-KR" sz="6000" b="1" i="0" u="none" strike="noStrike" spc="-6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altLang="en-US" sz="6000" b="1" i="0" u="none" strike="noStrike" spc="-6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en-US" altLang="ko-KR" sz="6000" b="1" i="0" u="none" strike="noStrike" spc="-600">
                <a:solidFill>
                  <a:srgbClr val="2a47ff"/>
                </a:solidFill>
                <a:ea typeface="Pretendard ExtraBold"/>
              </a:rPr>
              <a:t>AI</a:t>
            </a:r>
            <a:r>
              <a:rPr lang="ko-KR" altLang="en-US" sz="6000" b="1" i="0" u="none" strike="noStrike" spc="-600">
                <a:solidFill>
                  <a:srgbClr val="2a47ff"/>
                </a:solidFill>
                <a:ea typeface="Pretendard ExtraBold"/>
              </a:rPr>
              <a:t>단계 도우미</a:t>
            </a:r>
            <a:endParaRPr lang="ko-KR" altLang="en-US" sz="6000" b="1" i="0" u="none" strike="noStrike" spc="-600">
              <a:solidFill>
                <a:srgbClr val="2a47ff"/>
              </a:solidFill>
              <a:ea typeface="Pretendard Extra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912600" y="825500"/>
            <a:ext cx="57023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99600"/>
              </a:lnSpc>
              <a:defRPr/>
            </a:pP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LLM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을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활용한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IT HR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웹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솔루션</a:t>
            </a:r>
            <a:endParaRPr lang="ko-KR" sz="2400" b="1" i="0" u="none" strike="noStrike" spc="-100">
              <a:solidFill>
                <a:srgbClr val="2a47ff"/>
              </a:solidFill>
              <a:ea typeface="Pretendard Extra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969998" y="3238500"/>
            <a:ext cx="3937001" cy="3200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en-US" sz="3500" b="0" i="0" u="none" strike="noStrike">
                <a:solidFill>
                  <a:srgbClr val="ffffff"/>
                </a:solidFill>
                <a:latin typeface="Pretendard Regular"/>
              </a:rPr>
              <a:t>AI</a:t>
            </a: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단계</a:t>
            </a:r>
            <a:r>
              <a:rPr lang="en-US" sz="35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도우미</a:t>
            </a:r>
            <a:endParaRPr lang="ko-KR" sz="35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ea typeface="Pretendard Regular"/>
              </a:rPr>
              <a:t>입력으로 받은 단계와 단계 이름을 프롬프트로 전송</a:t>
            </a:r>
            <a:endParaRPr lang="ko-KR" altLang="en-US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AI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가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설명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또는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목표를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생성해줌</a:t>
            </a:r>
            <a:endParaRPr lang="ko-KR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09600" y="1993668"/>
            <a:ext cx="5181600" cy="7721832"/>
          </a:xfrm>
          <a:prstGeom prst="rect">
            <a:avLst/>
          </a:prstGeom>
        </p:spPr>
      </p:pic>
      <p:pic>
        <p:nvPicPr>
          <p:cNvPr id="14" name="Picture 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792200" y="6896100"/>
            <a:ext cx="4318000" cy="2863850"/>
          </a:xfrm>
          <a:prstGeom prst="rect">
            <a:avLst/>
          </a:prstGeom>
          <a:effectLst>
            <a:outerShdw blurRad="509952" dist="199156" dir="2700000">
              <a:srgbClr val="2a47ff">
                <a:alpha val="50000"/>
              </a:srgbClr>
            </a:outerShdw>
          </a:effectLst>
        </p:spPr>
      </p:pic>
      <p:sp>
        <p:nvSpPr>
          <p:cNvPr id="13" name="TextBox 11"/>
          <p:cNvSpPr txBox="1"/>
          <p:nvPr/>
        </p:nvSpPr>
        <p:spPr>
          <a:xfrm>
            <a:off x="14020800" y="7277100"/>
            <a:ext cx="3708400" cy="3200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ko-KR" altLang="en-US" sz="3500" b="0" i="0" u="none" strike="noStrike">
                <a:solidFill>
                  <a:srgbClr val="ffffff"/>
                </a:solidFill>
                <a:ea typeface="Pretendard Regular"/>
              </a:rPr>
              <a:t>구현 기술</a:t>
            </a:r>
            <a:endParaRPr lang="ko-KR" altLang="en-US" sz="35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Ollama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로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실행한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로컬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LLM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활용</a:t>
            </a:r>
            <a:endParaRPr lang="ko-KR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ea typeface="Pretendard Regular"/>
              </a:rPr>
              <a:t>모델</a:t>
            </a:r>
            <a:r>
              <a:rPr lang="en-US" altLang="ko-KR" sz="3000" b="0" i="0" u="none" strike="noStrike">
                <a:solidFill>
                  <a:srgbClr val="ffffff"/>
                </a:solidFill>
                <a:ea typeface="Pretendard Regular"/>
              </a:rPr>
              <a:t>:</a:t>
            </a:r>
            <a:r>
              <a:rPr lang="ko-KR" altLang="en-US" sz="3000" b="0" i="0" u="none" strike="noStrike">
                <a:solidFill>
                  <a:srgbClr val="ffffff"/>
                </a:solidFill>
                <a:ea typeface="Pretendard Regular"/>
              </a:rPr>
              <a:t> </a:t>
            </a:r>
            <a:r>
              <a:rPr lang="en-US" altLang="ko-KR" sz="3000" b="0" i="0" u="none" strike="noStrike">
                <a:solidFill>
                  <a:srgbClr val="ffffff"/>
                </a:solidFill>
                <a:ea typeface="Pretendard Regular"/>
              </a:rPr>
              <a:t>gemma3 : 4b</a:t>
            </a:r>
            <a:endParaRPr lang="en-US" altLang="ko-KR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691893933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3100" y="1181100"/>
            <a:ext cx="169418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7200" y="1485900"/>
            <a:ext cx="11201400" cy="5334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39800" y="190500"/>
            <a:ext cx="55372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6000" b="1" i="0" u="none" strike="noStrike" spc="-600">
                <a:solidFill>
                  <a:srgbClr val="2a47ff"/>
                </a:solidFill>
                <a:latin typeface="Pretendard ExtraBold"/>
              </a:rPr>
              <a:t>AI </a:t>
            </a:r>
            <a:r>
              <a:rPr lang="ko-KR" sz="6000" b="1" i="0" u="none" strike="noStrike" spc="-600">
                <a:solidFill>
                  <a:srgbClr val="2a47ff"/>
                </a:solidFill>
                <a:ea typeface="Pretendard ExtraBold"/>
              </a:rPr>
              <a:t>챗봇</a:t>
            </a:r>
            <a:endParaRPr lang="ko-KR" sz="6000" b="1" i="0" u="none" strike="noStrike" spc="-600">
              <a:solidFill>
                <a:srgbClr val="2a47ff"/>
              </a:solidFill>
              <a:ea typeface="Pretendard Extra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899900" y="647700"/>
            <a:ext cx="57023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99600"/>
              </a:lnSpc>
              <a:defRPr/>
            </a:pP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LLM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을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활용한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IT HR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웹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솔루션</a:t>
            </a:r>
            <a:endParaRPr lang="ko-KR" sz="2400" b="1" i="0" u="none" strike="noStrike" spc="-100">
              <a:solidFill>
                <a:srgbClr val="2a47ff"/>
              </a:solidFill>
              <a:ea typeface="Pretendard ExtraBold"/>
            </a:endParaRPr>
          </a:p>
        </p:txBody>
      </p:sp>
      <p:pic>
        <p:nvPicPr>
          <p:cNvPr id="11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33400" y="7200900"/>
            <a:ext cx="11125200" cy="2781300"/>
          </a:xfrm>
          <a:prstGeom prst="rect">
            <a:avLst/>
          </a:prstGeom>
          <a:effectLst>
            <a:outerShdw blurRad="211025" dist="128114" dir="2700000">
              <a:srgbClr val="2a47ff">
                <a:alpha val="50000"/>
              </a:srgbClr>
            </a:outerShdw>
          </a:effectLst>
        </p:spPr>
      </p:pic>
      <p:sp>
        <p:nvSpPr>
          <p:cNvPr id="12" name="TextBox 16"/>
          <p:cNvSpPr txBox="1"/>
          <p:nvPr/>
        </p:nvSpPr>
        <p:spPr>
          <a:xfrm>
            <a:off x="723900" y="7429500"/>
            <a:ext cx="12763500" cy="3479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endParaRPr lang="en-US" altLang="en-US" sz="2400" b="0" i="0" u="none" strike="noStrike">
              <a:solidFill>
                <a:srgbClr val="ffffff"/>
              </a:solidFill>
              <a:latin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사용자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입력을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단어의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빈도와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희귀성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 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기반으로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 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벡터화</a:t>
            </a:r>
            <a:endParaRPr lang="ko-KR" sz="24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코사인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유사도를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통해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문서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내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비슷한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질문을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찾음</a:t>
            </a:r>
            <a:endParaRPr lang="ko-KR" sz="2400" b="0" i="0" u="none" strike="noStrike">
              <a:solidFill>
                <a:srgbClr val="ffffff"/>
              </a:solidFill>
              <a:ea typeface="Pretendard Regular"/>
            </a:endParaRPr>
          </a:p>
          <a:p>
            <a:pPr lvl="1" algn="l">
              <a:lnSpc>
                <a:spcPct val="140269"/>
              </a:lnSpc>
              <a:defRPr/>
            </a:pPr>
            <a:endParaRPr lang="en-US" sz="24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  <a:p>
            <a:pPr lvl="1" algn="l">
              <a:lnSpc>
                <a:spcPct val="140269"/>
              </a:lnSpc>
              <a:defRPr/>
            </a:pPr>
            <a:endParaRPr lang="en-US" sz="24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</p:txBody>
      </p:sp>
      <p:pic>
        <p:nvPicPr>
          <p:cNvPr id="16" name="그림 15"/>
          <p:cNvPicPr/>
          <p:nvPr/>
        </p:nvPicPr>
        <p:blipFill rotWithShape="1">
          <a:blip r:embed="rId6"/>
          <a:stretch>
            <a:fillRect/>
          </a:stretch>
        </p:blipFill>
        <p:spPr>
          <a:xfrm>
            <a:off x="723899" y="7505700"/>
            <a:ext cx="5829300" cy="79057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1963400" y="1485900"/>
            <a:ext cx="5943600" cy="2743200"/>
          </a:xfrm>
          <a:prstGeom prst="rect">
            <a:avLst/>
          </a:prstGeom>
        </p:spPr>
      </p:pic>
      <p:pic>
        <p:nvPicPr>
          <p:cNvPr id="18" name="Picture 9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2039600" y="4457700"/>
            <a:ext cx="5867400" cy="5524500"/>
          </a:xfrm>
          <a:prstGeom prst="rect">
            <a:avLst/>
          </a:prstGeom>
          <a:effectLst>
            <a:outerShdw blurRad="211025" dist="128114" dir="2700000">
              <a:srgbClr val="2a47ff">
                <a:alpha val="50000"/>
              </a:srgbClr>
            </a:outerShdw>
          </a:effectLst>
        </p:spPr>
      </p:pic>
      <p:sp>
        <p:nvSpPr>
          <p:cNvPr id="19" name="TextBox 17"/>
          <p:cNvSpPr txBox="1"/>
          <p:nvPr/>
        </p:nvSpPr>
        <p:spPr>
          <a:xfrm>
            <a:off x="12192000" y="5829300"/>
            <a:ext cx="5867400" cy="32385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CSV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파일을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지식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저장소로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활용</a:t>
            </a:r>
            <a:endParaRPr lang="ko-KR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CSV</a:t>
            </a:r>
            <a:r>
              <a:rPr lang="ko-KR" altLang="en-US" sz="3000" b="0" i="0" u="none" strike="noStrike">
                <a:solidFill>
                  <a:srgbClr val="ffffff"/>
                </a:solidFill>
                <a:ea typeface="Pretendard Regular"/>
              </a:rPr>
              <a:t>파일은 질문과 정답을 나눠 저장</a:t>
            </a:r>
            <a:endParaRPr lang="ko-KR" altLang="en-US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ea typeface="Pretendard Regular"/>
              </a:rPr>
              <a:t>질문에 대한 정답이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로컬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LLM</a:t>
            </a:r>
            <a:r>
              <a:rPr lang="ko-KR" altLang="en-US" sz="3000" b="0" i="0" u="none" strike="noStrike">
                <a:solidFill>
                  <a:srgbClr val="ffffff"/>
                </a:solidFill>
                <a:ea typeface="Pretendard Regular"/>
              </a:rPr>
              <a:t>의 프롬프트로 전송</a:t>
            </a:r>
            <a:endParaRPr lang="ko-KR" altLang="en-US" sz="3000" b="0" i="0" u="none" strike="noStrike">
              <a:solidFill>
                <a:srgbClr val="ffffff"/>
              </a:solidFill>
              <a:ea typeface="Pretendard Regular"/>
            </a:endParaRPr>
          </a:p>
        </p:txBody>
      </p:sp>
      <p:sp>
        <p:nvSpPr>
          <p:cNvPr id="20" name="TextBox 14"/>
          <p:cNvSpPr txBox="1"/>
          <p:nvPr/>
        </p:nvSpPr>
        <p:spPr>
          <a:xfrm>
            <a:off x="12242800" y="4787900"/>
            <a:ext cx="5816600" cy="711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en-US" sz="4000" b="0" i="0" u="none" strike="noStrike" spc="-400">
                <a:solidFill>
                  <a:srgbClr val="ffffff"/>
                </a:solidFill>
                <a:latin typeface="Pretendard Regular"/>
              </a:rPr>
              <a:t>RAG</a:t>
            </a:r>
            <a:endParaRPr lang="en-US" sz="4000" b="0" i="0" u="none" strike="noStrike" spc="-400">
              <a:solidFill>
                <a:srgbClr val="ffffff"/>
              </a:solidFill>
              <a:latin typeface="Pretendard Regular"/>
            </a:endParaRPr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3100" y="1587500"/>
            <a:ext cx="169418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346700" y="6819900"/>
            <a:ext cx="5092700" cy="3124200"/>
          </a:xfrm>
          <a:prstGeom prst="rect">
            <a:avLst/>
          </a:prstGeom>
          <a:effectLst>
            <a:outerShdw blurRad="211025" dist="128114" dir="2700000">
              <a:srgbClr val="2a47ff">
                <a:alpha val="50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939800" y="482600"/>
            <a:ext cx="77470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6000" b="1" i="0" u="none" strike="noStrike" spc="-600">
                <a:solidFill>
                  <a:srgbClr val="2a47ff"/>
                </a:solidFill>
                <a:latin typeface="Pretendard ExtraBold"/>
              </a:rPr>
              <a:t>AI </a:t>
            </a:r>
            <a:r>
              <a:rPr lang="ko-KR" sz="6000" b="1" i="0" u="none" strike="noStrike" spc="-600">
                <a:solidFill>
                  <a:srgbClr val="2a47ff"/>
                </a:solidFill>
                <a:ea typeface="Pretendard ExtraBold"/>
              </a:rPr>
              <a:t>챗봇</a:t>
            </a:r>
            <a:r>
              <a:rPr lang="en-US" altLang="ko-KR" sz="6000" b="1" i="0" u="none" strike="noStrike" spc="-600">
                <a:solidFill>
                  <a:srgbClr val="2a47ff"/>
                </a:solidFill>
                <a:ea typeface="Pretendard ExtraBold"/>
              </a:rPr>
              <a:t>  - </a:t>
            </a:r>
            <a:r>
              <a:rPr lang="ko-KR" altLang="en-US" sz="6000" b="1" i="0" u="none" strike="noStrike" spc="-600">
                <a:solidFill>
                  <a:srgbClr val="2a47ff"/>
                </a:solidFill>
                <a:latin typeface="Pretendard ExtraBold"/>
              </a:rPr>
              <a:t>누적질문 </a:t>
            </a:r>
            <a:endParaRPr lang="ko-KR" altLang="en-US" sz="6000" b="1" i="0" u="none" strike="noStrike" spc="-600">
              <a:solidFill>
                <a:srgbClr val="2a47ff"/>
              </a:solidFill>
              <a:latin typeface="Pretendard Extra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912600" y="825500"/>
            <a:ext cx="57023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99600"/>
              </a:lnSpc>
              <a:defRPr/>
            </a:pP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LLM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을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활용한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IT HR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웹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솔루션</a:t>
            </a:r>
            <a:endParaRPr lang="ko-KR" sz="2400" b="1" i="0" u="none" strike="noStrike" spc="-100">
              <a:solidFill>
                <a:srgbClr val="2a47ff"/>
              </a:solidFill>
              <a:ea typeface="Pretendard Extra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499100" y="6870700"/>
            <a:ext cx="5016500" cy="711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en-US" sz="4000" b="0" i="0" u="none" strike="noStrike" spc="-400">
                <a:solidFill>
                  <a:srgbClr val="ffffff"/>
                </a:solidFill>
                <a:latin typeface="Pretendard Regular"/>
              </a:rPr>
              <a:t>SentenceTransformer</a:t>
            </a:r>
            <a:endParaRPr lang="en-US" sz="4000" b="0" i="0" u="none" strike="noStrike" spc="-400">
              <a:solidFill>
                <a:srgbClr val="ffffff"/>
              </a:solidFill>
              <a:latin typeface="Pretendard Regular"/>
            </a:endParaRPr>
          </a:p>
        </p:txBody>
      </p:sp>
      <p:sp>
        <p:nvSpPr>
          <p:cNvPr name="TextBox 14" id="14"/>
          <p:cNvSpPr txBox="true"/>
          <p:nvPr/>
        </p:nvSpPr>
        <p:spPr>
          <a:xfrm rot="0">
            <a:off x="12166600" y="7213600"/>
            <a:ext cx="58166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0269"/>
              </a:lnSpc>
            </a:pPr>
            <a:r>
              <a:rPr lang="en-US" sz="4000" b="false" i="false" u="none" strike="noStrike" spc="-400">
                <a:solidFill>
                  <a:srgbClr val="FFFFFF"/>
                </a:solidFill>
                <a:latin typeface="Pretendard Regular"/>
              </a:rPr>
              <a:t>RAG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10200" y="7353300"/>
            <a:ext cx="4991100" cy="22098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endParaRPr lang="ko-KR" sz="25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sz="2500" b="0" i="0" u="none" strike="noStrike">
                <a:solidFill>
                  <a:srgbClr val="ffffff"/>
                </a:solidFill>
                <a:ea typeface="Pretendard Regular"/>
              </a:rPr>
              <a:t>의미</a:t>
            </a:r>
            <a:r>
              <a:rPr lang="en-US" sz="25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ffffff"/>
                </a:solidFill>
                <a:ea typeface="Pretendard Regular"/>
              </a:rPr>
              <a:t>기반으로</a:t>
            </a:r>
            <a:r>
              <a:rPr lang="en-US" sz="25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ffffff"/>
                </a:solidFill>
                <a:ea typeface="Pretendard Regular"/>
              </a:rPr>
              <a:t>유사한</a:t>
            </a:r>
            <a:r>
              <a:rPr lang="en-US" sz="25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ffffff"/>
                </a:solidFill>
                <a:ea typeface="Pretendard Regular"/>
              </a:rPr>
              <a:t>질문들을</a:t>
            </a:r>
            <a:r>
              <a:rPr lang="ko-KR" altLang="en-US" sz="25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ffffff"/>
                </a:solidFill>
                <a:ea typeface="Pretendard Regular"/>
              </a:rPr>
              <a:t>같은</a:t>
            </a:r>
            <a:r>
              <a:rPr lang="en-US" sz="25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ffffff"/>
                </a:solidFill>
                <a:ea typeface="Pretendard Regular"/>
              </a:rPr>
              <a:t>질문으로</a:t>
            </a:r>
            <a:r>
              <a:rPr lang="en-US" sz="25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ea typeface="Pretendard Regular"/>
              </a:rPr>
              <a:t>카운트</a:t>
            </a:r>
            <a:endParaRPr lang="ko-KR" sz="23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altLang="en-US" sz="2500" b="0" i="0" u="none" strike="noStrike">
                <a:solidFill>
                  <a:srgbClr val="ffffff"/>
                </a:solidFill>
                <a:ea typeface="Pretendard Regular"/>
              </a:rPr>
              <a:t>유사도가 </a:t>
            </a:r>
            <a:r>
              <a:rPr lang="en-US" altLang="ko-KR" sz="2500" b="0" i="0" u="none" strike="noStrike">
                <a:solidFill>
                  <a:srgbClr val="ffffff"/>
                </a:solidFill>
                <a:ea typeface="Pretendard Regular"/>
              </a:rPr>
              <a:t>0.7</a:t>
            </a:r>
            <a:r>
              <a:rPr lang="ko-KR" altLang="en-US" sz="2500" b="0" i="0" u="none" strike="noStrike">
                <a:solidFill>
                  <a:srgbClr val="ffffff"/>
                </a:solidFill>
                <a:ea typeface="Pretendard Regular"/>
              </a:rPr>
              <a:t> 넘을시 같은</a:t>
            </a:r>
            <a:endParaRPr lang="ko-KR" altLang="en-US" sz="25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0" lvl="0" indent="0" algn="l">
              <a:lnSpc>
                <a:spcPct val="140269"/>
              </a:lnSpc>
              <a:buClr>
                <a:srgbClr val="ffffff"/>
              </a:buClr>
              <a:buFont typeface="Arial"/>
              <a:buNone/>
              <a:defRPr/>
            </a:pPr>
            <a:r>
              <a:rPr lang="ko-KR" altLang="en-US" sz="2500" b="0" i="0" u="none" strike="noStrike">
                <a:solidFill>
                  <a:srgbClr val="ffffff"/>
                </a:solidFill>
                <a:ea typeface="Pretendard Regular"/>
              </a:rPr>
              <a:t>    질문으로 저장</a:t>
            </a:r>
            <a:endParaRPr lang="ko-KR" altLang="en-US" sz="2500" b="0" i="0" u="none" strike="noStrike">
              <a:solidFill>
                <a:srgbClr val="ffffff"/>
              </a:solidFill>
              <a:ea typeface="Pretendard Regular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5"/>
          <a:srcRect t="8800" b="19200"/>
          <a:stretch>
            <a:fillRect/>
          </a:stretch>
        </p:blipFill>
        <p:spPr>
          <a:xfrm>
            <a:off x="12954000" y="1943101"/>
            <a:ext cx="4648200" cy="1371599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57200" y="1866900"/>
            <a:ext cx="12192000" cy="44958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2954001" y="4838700"/>
            <a:ext cx="4800601" cy="14097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642336" y="6819900"/>
            <a:ext cx="7188464" cy="3124200"/>
          </a:xfrm>
          <a:prstGeom prst="rect">
            <a:avLst/>
          </a:prstGeom>
        </p:spPr>
      </p:pic>
      <p:sp>
        <p:nvSpPr>
          <p:cNvPr id="24" name="오른쪽 화살표 23"/>
          <p:cNvSpPr/>
          <p:nvPr/>
        </p:nvSpPr>
        <p:spPr>
          <a:xfrm rot="5309428">
            <a:off x="15017263" y="3631464"/>
            <a:ext cx="457200" cy="9144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25" name="Picture 5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609600" y="6845300"/>
            <a:ext cx="4318000" cy="3022600"/>
          </a:xfrm>
          <a:prstGeom prst="rect">
            <a:avLst/>
          </a:prstGeom>
          <a:effectLst>
            <a:outerShdw blurRad="509952" dist="199156" dir="2700000">
              <a:srgbClr val="2a47ff">
                <a:alpha val="50000"/>
              </a:srgbClr>
            </a:outerShdw>
          </a:effectLst>
        </p:spPr>
      </p:pic>
      <p:sp>
        <p:nvSpPr>
          <p:cNvPr id="27" name="TextBox 9"/>
          <p:cNvSpPr txBox="1"/>
          <p:nvPr/>
        </p:nvSpPr>
        <p:spPr>
          <a:xfrm>
            <a:off x="749299" y="6286500"/>
            <a:ext cx="3975101" cy="434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누적</a:t>
            </a:r>
            <a:r>
              <a:rPr lang="en-US" sz="35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질문</a:t>
            </a:r>
            <a:r>
              <a:rPr lang="en-US" sz="3500" b="0" i="0" u="none" strike="noStrike">
                <a:solidFill>
                  <a:srgbClr val="ffffff"/>
                </a:solidFill>
                <a:latin typeface="Pretendard Regular"/>
              </a:rPr>
              <a:t> </a:t>
            </a:r>
            <a:endParaRPr lang="en-US" sz="3500" b="0" i="0" u="none" strike="noStrike">
              <a:solidFill>
                <a:srgbClr val="ffffff"/>
              </a:solidFill>
              <a:latin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상위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3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개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키워드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조회</a:t>
            </a:r>
            <a:endParaRPr lang="ko-KR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ea typeface="Pretendard Regular"/>
              </a:rPr>
              <a:t>유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사한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질문들은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하나의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키워드로</a:t>
            </a:r>
            <a:r>
              <a:rPr lang="en-US" sz="30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ffffff"/>
                </a:solidFill>
                <a:ea typeface="Pretendard Regular"/>
              </a:rPr>
              <a:t>판정</a:t>
            </a:r>
            <a:endParaRPr lang="ko-KR" sz="3000" b="0" i="0" u="none" strike="noStrike">
              <a:solidFill>
                <a:srgbClr val="ffffff"/>
              </a:solidFill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</p:txBody>
      </p:sp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>
            <a:alphaModFix amt="1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73100" y="1587500"/>
            <a:ext cx="169418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496800" y="2095500"/>
            <a:ext cx="5257800" cy="6096000"/>
          </a:xfrm>
          <a:prstGeom prst="rect">
            <a:avLst/>
          </a:prstGeom>
          <a:effectLst>
            <a:outerShdw blurRad="211025" dist="128114" dir="2700000">
              <a:srgbClr val="2a47ff">
                <a:alpha val="50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939800" y="482600"/>
            <a:ext cx="7747000" cy="1066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6000" b="1" i="0" u="none" strike="noStrike" spc="-600">
                <a:solidFill>
                  <a:srgbClr val="2a47ff"/>
                </a:solidFill>
                <a:latin typeface="Pretendard ExtraBold"/>
              </a:rPr>
              <a:t>AI </a:t>
            </a:r>
            <a:r>
              <a:rPr lang="ko-KR" sz="6000" b="1" i="0" u="none" strike="noStrike" spc="-600">
                <a:solidFill>
                  <a:srgbClr val="2a47ff"/>
                </a:solidFill>
                <a:ea typeface="Pretendard ExtraBold"/>
              </a:rPr>
              <a:t>챗봇</a:t>
            </a:r>
            <a:r>
              <a:rPr lang="en-US" altLang="ko-KR" sz="6000" b="1" i="0" u="none" strike="noStrike" spc="-600">
                <a:solidFill>
                  <a:srgbClr val="2a47ff"/>
                </a:solidFill>
                <a:ea typeface="Pretendard ExtraBold"/>
              </a:rPr>
              <a:t>  -  </a:t>
            </a:r>
            <a:r>
              <a:rPr lang="ko-KR" altLang="en-US" sz="6000" b="1" i="0" u="none" strike="noStrike" spc="-600">
                <a:solidFill>
                  <a:srgbClr val="2a47ff"/>
                </a:solidFill>
                <a:latin typeface="Pretendard ExtraBold"/>
              </a:rPr>
              <a:t>비속어 필터링 </a:t>
            </a:r>
            <a:endParaRPr lang="ko-KR" altLang="en-US" sz="6000" b="1" i="0" u="none" strike="noStrike" spc="-600">
              <a:solidFill>
                <a:srgbClr val="2a47ff"/>
              </a:solidFill>
              <a:latin typeface="Pretendard Extra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912600" y="825500"/>
            <a:ext cx="57023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99600"/>
              </a:lnSpc>
              <a:defRPr/>
            </a:pP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LLM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을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활용한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IT HR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웹</a:t>
            </a:r>
            <a:r>
              <a:rPr lang="en-US" sz="2400" b="1" i="0" u="none" strike="noStrike" spc="-100">
                <a:solidFill>
                  <a:srgbClr val="2a47ff"/>
                </a:solidFill>
                <a:latin typeface="Pretendard ExtraBold"/>
              </a:rPr>
              <a:t> </a:t>
            </a:r>
            <a:r>
              <a:rPr lang="ko-KR" sz="2400" b="1" i="0" u="none" strike="noStrike" spc="-100">
                <a:solidFill>
                  <a:srgbClr val="2a47ff"/>
                </a:solidFill>
                <a:ea typeface="Pretendard ExtraBold"/>
              </a:rPr>
              <a:t>솔루션</a:t>
            </a:r>
            <a:endParaRPr lang="ko-KR" sz="2400" b="1" i="0" u="none" strike="noStrike" spc="-100">
              <a:solidFill>
                <a:srgbClr val="2a47ff"/>
              </a:solidFill>
              <a:ea typeface="Pretendard ExtraBold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23669" y="2092201"/>
            <a:ext cx="11568331" cy="6102597"/>
          </a:xfrm>
          <a:prstGeom prst="rect">
            <a:avLst/>
          </a:prstGeom>
        </p:spPr>
      </p:pic>
      <p:sp>
        <p:nvSpPr>
          <p:cNvPr id="31" name="TextBox 10"/>
          <p:cNvSpPr txBox="1"/>
          <p:nvPr/>
        </p:nvSpPr>
        <p:spPr>
          <a:xfrm>
            <a:off x="12827001" y="2933700"/>
            <a:ext cx="4622798" cy="5257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비속어</a:t>
            </a:r>
            <a:r>
              <a:rPr lang="en-US" sz="35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ffffff"/>
                </a:solidFill>
                <a:ea typeface="Pretendard Regular"/>
              </a:rPr>
              <a:t>필터링</a:t>
            </a:r>
            <a:endParaRPr lang="ko-KR" sz="3500" b="0" i="0" u="none" strike="noStrike">
              <a:solidFill>
                <a:srgbClr val="ffffff"/>
              </a:solidFill>
              <a:ea typeface="Pretendard Regular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비속어는</a:t>
            </a:r>
            <a:r>
              <a:rPr lang="en-US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 </a:t>
            </a:r>
            <a:r>
              <a:rPr lang="ko-KR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필터를</a:t>
            </a:r>
            <a:r>
              <a:rPr lang="en-US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 </a:t>
            </a:r>
            <a:r>
              <a:rPr lang="ko-KR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거쳐</a:t>
            </a:r>
            <a:r>
              <a:rPr lang="ko-KR" altLang="en-US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 </a:t>
            </a:r>
            <a:r>
              <a:rPr lang="ko-KR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주의</a:t>
            </a:r>
            <a:r>
              <a:rPr lang="en-US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 </a:t>
            </a:r>
            <a:r>
              <a:rPr lang="ko-KR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메시지</a:t>
            </a:r>
            <a:r>
              <a:rPr lang="en-US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 </a:t>
            </a:r>
            <a:r>
              <a:rPr lang="ko-KR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전송</a:t>
            </a:r>
            <a:endParaRPr lang="ko-KR" altLang="en-US" sz="2700" b="0" i="0" u="none" strike="noStrike">
              <a:solidFill>
                <a:srgbClr val="ffffff"/>
              </a:solidFill>
              <a:latin typeface="맑은 고딕 Semilight"/>
              <a:ea typeface="맑은 고딕 Semilight"/>
              <a:cs typeface="맑은 고딕 Semilight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altLang="en-US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데이터 베이스에</a:t>
            </a:r>
            <a:r>
              <a:rPr lang="en-US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 </a:t>
            </a:r>
            <a:r>
              <a:rPr lang="ko-KR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저장되지않</a:t>
            </a:r>
            <a:r>
              <a:rPr lang="ko-KR" altLang="en-US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아 누적질문에 나오지않음</a:t>
            </a:r>
            <a:endParaRPr lang="ko-KR" altLang="en-US" sz="2700" b="0" i="0" u="none" strike="noStrike">
              <a:solidFill>
                <a:srgbClr val="ffffff"/>
              </a:solidFill>
              <a:latin typeface="맑은 고딕 Semilight"/>
              <a:ea typeface="맑은 고딕 Semilight"/>
              <a:cs typeface="맑은 고딕 Semilight"/>
            </a:endParaRPr>
          </a:p>
          <a:p>
            <a:pPr marL="342900" lvl="0" indent="-342900" algn="l">
              <a:lnSpc>
                <a:spcPct val="140269"/>
              </a:lnSpc>
              <a:buClr>
                <a:srgbClr val="ffffff"/>
              </a:buClr>
              <a:buFont typeface="Arial"/>
              <a:buChar char="●"/>
              <a:defRPr/>
            </a:pPr>
            <a:r>
              <a:rPr lang="ko-KR" altLang="en-US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필터에서 걸린 비속어일 시 로컬 </a:t>
            </a:r>
            <a:r>
              <a:rPr lang="en-US" altLang="ko-KR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LLM</a:t>
            </a:r>
            <a:r>
              <a:rPr lang="ko-KR" altLang="en-US" sz="2700" b="0" i="0" u="none" strike="noStrike">
                <a:solidFill>
                  <a:srgbClr val="ffffff"/>
                </a:solidFill>
                <a:latin typeface="맑은 고딕 Semilight"/>
                <a:ea typeface="맑은 고딕 Semilight"/>
                <a:cs typeface="맑은 고딕 Semilight"/>
              </a:rPr>
              <a:t>으로 전송되지 않아 처리 속도를 높임</a:t>
            </a:r>
            <a:endParaRPr lang="ko-KR" altLang="en-US" sz="2700" b="0" i="0" u="none" strike="noStrike">
              <a:solidFill>
                <a:srgbClr val="ffffff"/>
              </a:solidFill>
              <a:latin typeface="맑은 고딕 Semilight"/>
              <a:ea typeface="맑은 고딕 Semilight"/>
              <a:cs typeface="맑은 고딕 Semilight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3000" b="0" i="0" u="none" strike="noStrike">
              <a:solidFill>
                <a:srgbClr val="ffffff"/>
              </a:solidFill>
              <a:latin typeface="Pretendard Regular"/>
              <a:ea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762043939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6275" y="1581150"/>
            <a:ext cx="16944976" cy="3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42975" y="514350"/>
            <a:ext cx="3095625" cy="1066800"/>
          </a:xfrm>
          <a:prstGeom prst="rect">
            <a:avLst/>
          </a:prstGeom>
        </p:spPr>
        <p:txBody>
          <a:bodyPr lIns="0" tIns="101623" rIns="0" bIns="101623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6000" b="0" i="0" u="none" strike="noStrike" spc="-8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문제해결</a:t>
            </a:r>
            <a:endParaRPr lang="en-US" sz="6000" b="0" i="0" u="none" strike="noStrike" spc="-800">
              <a:solidFill>
                <a:srgbClr val="2a47ff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810000" y="838200"/>
            <a:ext cx="3952875" cy="428625"/>
          </a:xfrm>
          <a:prstGeom prst="rect">
            <a:avLst/>
          </a:prstGeom>
        </p:spPr>
        <p:txBody>
          <a:bodyPr lIns="0" tIns="82164" rIns="0" bIns="82164" anchor="ctr"/>
          <a:lstStyle/>
          <a:p>
            <a:pPr lvl="0" algn="l">
              <a:lnSpc>
                <a:spcPct val="83000"/>
              </a:lnSpc>
              <a:defRPr/>
            </a:pPr>
            <a:r>
              <a:rPr lang="en-US" sz="2400" b="0" i="0" u="none" strike="noStrike" spc="-100">
                <a:solidFill>
                  <a:srgbClr val="2a47ff"/>
                </a:solidFill>
                <a:latin typeface="Pretendard ExtraBold"/>
                <a:ea typeface="Pretendard ExtraBold"/>
                <a:cs typeface="Pretendard ExtraBold"/>
              </a:rPr>
              <a:t>PROBLEM / SOLUTION</a:t>
            </a:r>
            <a:endParaRPr lang="en-US" sz="2400" b="0" i="0" u="none" strike="noStrike" spc="-100">
              <a:solidFill>
                <a:srgbClr val="2a47ff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76275" y="1914525"/>
            <a:ext cx="8267700" cy="803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629400" y="3086100"/>
            <a:ext cx="10896600" cy="2667000"/>
          </a:xfrm>
          <a:prstGeom prst="rect">
            <a:avLst/>
          </a:prstGeom>
          <a:effectLst>
            <a:outerShdw blurRad="277985" dir="5400000">
              <a:srgbClr val="2a47ff">
                <a:alpha val="26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591300" y="6686550"/>
            <a:ext cx="10934699" cy="1885950"/>
          </a:xfrm>
          <a:prstGeom prst="rect">
            <a:avLst/>
          </a:prstGeom>
          <a:effectLst>
            <a:outerShdw blurRad="239457" dir="5400000">
              <a:srgbClr val="2a47ff">
                <a:alpha val="26000"/>
              </a:srgbClr>
            </a:outerShdw>
          </a:effectLst>
        </p:spPr>
      </p:pic>
      <p:sp>
        <p:nvSpPr>
          <p:cNvPr id="17" name="TextBox 17"/>
          <p:cNvSpPr txBox="1"/>
          <p:nvPr/>
        </p:nvSpPr>
        <p:spPr>
          <a:xfrm>
            <a:off x="3657600" y="3733800"/>
            <a:ext cx="3505200" cy="1409700"/>
          </a:xfrm>
          <a:prstGeom prst="rect">
            <a:avLst/>
          </a:prstGeom>
        </p:spPr>
        <p:txBody>
          <a:bodyPr lIns="0" tIns="129539" rIns="0" bIns="129539" anchor="ctr"/>
          <a:lstStyle/>
          <a:p>
            <a:pPr lvl="0" algn="l">
              <a:lnSpc>
                <a:spcPct val="87980"/>
              </a:lnSpc>
              <a:defRPr/>
            </a:pPr>
            <a:r>
              <a:rPr lang="ko-KR" altLang="en-US" sz="4500" b="0" i="0" u="none" strike="noStrike" spc="-6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유사 질문</a:t>
            </a:r>
            <a:endParaRPr lang="ko-KR" altLang="en-US" sz="4500" b="0" i="0" u="none" strike="noStrike" spc="-60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87980"/>
              </a:lnSpc>
              <a:defRPr/>
            </a:pPr>
            <a:r>
              <a:rPr lang="ko-KR" altLang="en-US" sz="4500" b="0" i="0" u="none" strike="noStrike" spc="-6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판정 문제</a:t>
            </a:r>
            <a:endParaRPr lang="ko-KR" altLang="en-US" sz="4500" b="0" i="0" u="none" strike="noStrike" spc="-60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0" name="TextBox 17"/>
          <p:cNvSpPr txBox="1"/>
          <p:nvPr/>
        </p:nvSpPr>
        <p:spPr>
          <a:xfrm>
            <a:off x="1066800" y="3733800"/>
            <a:ext cx="2438400" cy="1409700"/>
          </a:xfrm>
          <a:prstGeom prst="rect">
            <a:avLst/>
          </a:prstGeom>
        </p:spPr>
        <p:txBody>
          <a:bodyPr lIns="0" tIns="129539" rIns="0" bIns="129539" anchor="ctr"/>
          <a:lstStyle/>
          <a:p>
            <a:pPr lvl="0" algn="l">
              <a:lnSpc>
                <a:spcPct val="87980"/>
              </a:lnSpc>
              <a:defRPr/>
            </a:pPr>
            <a:r>
              <a:rPr lang="ko-KR" altLang="en-US" sz="4500" b="0" i="0" u="none" strike="noStrike" spc="-6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문제점 </a:t>
            </a:r>
            <a:r>
              <a:rPr lang="en-US" altLang="ko-KR" sz="4500" b="0" i="0" u="none" strike="noStrike" spc="-6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</a:t>
            </a:r>
            <a:endParaRPr lang="en-US" altLang="ko-KR" sz="4500" b="0" i="0" u="none" strike="noStrike" spc="-60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4" name="TextBox 10"/>
          <p:cNvSpPr txBox="1"/>
          <p:nvPr/>
        </p:nvSpPr>
        <p:spPr>
          <a:xfrm>
            <a:off x="6819900" y="3238500"/>
            <a:ext cx="10706100" cy="1066798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en-US" altLang="ko-KR" sz="3000" b="1" i="0" u="none" strike="noStrike">
                <a:solidFill>
                  <a:srgbClr val="ff0000"/>
                </a:solidFill>
                <a:latin typeface="Pretendard Regular"/>
                <a:ea typeface="Pretendard Regular"/>
              </a:rPr>
              <a:t>Sentence Transformer</a:t>
            </a:r>
            <a:r>
              <a:rPr lang="ko-KR" altLang="en-US" sz="3000" b="1" i="0" u="none" strike="noStrike">
                <a:solidFill>
                  <a:srgbClr val="ff0000"/>
                </a:solidFill>
                <a:latin typeface="Pretendard Regular"/>
                <a:ea typeface="Pretendard Regular"/>
              </a:rPr>
              <a:t>가 유사 질문을 다른 케이스로 판정함  </a:t>
            </a:r>
            <a:endParaRPr lang="ko-KR" altLang="en-US" sz="3000" b="1" i="0" u="none" strike="noStrike">
              <a:solidFill>
                <a:srgbClr val="ff0000"/>
              </a:solidFill>
              <a:latin typeface="Pretendard Regular"/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3000" b="1" i="0" u="none" strike="noStrike">
              <a:solidFill>
                <a:srgbClr val="ff0000"/>
              </a:solidFill>
              <a:latin typeface="Pretendard Regular"/>
              <a:ea typeface="Pretendard Regular"/>
            </a:endParaRPr>
          </a:p>
        </p:txBody>
      </p:sp>
      <p:sp>
        <p:nvSpPr>
          <p:cNvPr id="25" name="TextBox 10"/>
          <p:cNvSpPr txBox="1"/>
          <p:nvPr/>
        </p:nvSpPr>
        <p:spPr>
          <a:xfrm>
            <a:off x="6896099" y="3771900"/>
            <a:ext cx="10172701" cy="182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ko-KR" altLang="en-US" sz="3000" b="1" i="0" u="none" strike="noStrike">
                <a:solidFill>
                  <a:srgbClr val="000000"/>
                </a:solidFill>
                <a:latin typeface="Pretendard Regular"/>
                <a:ea typeface="Pretendard Regular"/>
              </a:rPr>
              <a:t>코사인 유사도 수치인 SIMILARITY_THRESHOLD 값을 낮춰가며 의미적으로 덜 유사한 질문까지 동일 이슈로 </a:t>
            </a:r>
            <a:endParaRPr lang="ko-KR" altLang="en-US" sz="3000" b="1" i="0" u="none" strike="noStrike">
              <a:solidFill>
                <a:srgbClr val="000000"/>
              </a:solidFill>
              <a:latin typeface="Pretendard Regular"/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r>
              <a:rPr lang="ko-KR" altLang="en-US" sz="3000" b="1" i="0" u="none" strike="noStrike">
                <a:solidFill>
                  <a:srgbClr val="000000"/>
                </a:solidFill>
                <a:latin typeface="Pretendard Regular"/>
                <a:ea typeface="Pretendard Regular"/>
              </a:rPr>
              <a:t>허용해 해결함</a:t>
            </a:r>
            <a:endParaRPr lang="ko-KR" altLang="en-US" sz="3000" b="1" i="0" u="none" strike="noStrike">
              <a:solidFill>
                <a:srgbClr val="000000"/>
              </a:solidFill>
              <a:latin typeface="Pretendard Regular"/>
              <a:ea typeface="Pretendard Regular"/>
            </a:endParaRPr>
          </a:p>
        </p:txBody>
      </p:sp>
      <p:sp>
        <p:nvSpPr>
          <p:cNvPr id="26" name="TextBox 17"/>
          <p:cNvSpPr txBox="1"/>
          <p:nvPr/>
        </p:nvSpPr>
        <p:spPr>
          <a:xfrm>
            <a:off x="1066800" y="6819900"/>
            <a:ext cx="2438400" cy="1409700"/>
          </a:xfrm>
          <a:prstGeom prst="rect">
            <a:avLst/>
          </a:prstGeom>
        </p:spPr>
        <p:txBody>
          <a:bodyPr lIns="0" tIns="129539" rIns="0" bIns="129539" anchor="ctr"/>
          <a:lstStyle/>
          <a:p>
            <a:pPr lvl="0" algn="l">
              <a:lnSpc>
                <a:spcPct val="87980"/>
              </a:lnSpc>
              <a:defRPr/>
            </a:pPr>
            <a:r>
              <a:rPr lang="ko-KR" altLang="en-US" sz="4500" b="0" i="0" u="none" strike="noStrike" spc="-6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문제점 </a:t>
            </a:r>
            <a:r>
              <a:rPr lang="en-US" altLang="ko-KR" sz="4500" b="0" i="0" u="none" strike="noStrike" spc="-6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</a:t>
            </a:r>
            <a:endParaRPr lang="en-US" altLang="ko-KR" sz="4500" b="0" i="0" u="none" strike="noStrike" spc="-60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7" name="TextBox 17"/>
          <p:cNvSpPr txBox="1"/>
          <p:nvPr/>
        </p:nvSpPr>
        <p:spPr>
          <a:xfrm>
            <a:off x="3581400" y="6972300"/>
            <a:ext cx="2743199" cy="1409700"/>
          </a:xfrm>
          <a:prstGeom prst="rect">
            <a:avLst/>
          </a:prstGeom>
        </p:spPr>
        <p:txBody>
          <a:bodyPr lIns="0" tIns="129539" rIns="0" bIns="129539" anchor="ctr"/>
          <a:lstStyle/>
          <a:p>
            <a:pPr lvl="0" algn="l">
              <a:lnSpc>
                <a:spcPct val="87980"/>
              </a:lnSpc>
              <a:defRPr/>
            </a:pPr>
            <a:r>
              <a:rPr lang="ko-KR" altLang="en-US" sz="4500" b="0" i="0" u="none" strike="noStrike" spc="-6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욕설 필터링 한계점</a:t>
            </a:r>
            <a:endParaRPr lang="ko-KR" altLang="en-US" sz="4500" b="0" i="0" u="none" strike="noStrike" spc="-60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6743700" y="6972300"/>
            <a:ext cx="10706100" cy="685798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ko-KR" altLang="en-US" sz="3000" b="1" i="0" u="none" strike="noStrike">
                <a:solidFill>
                  <a:srgbClr val="ff0000"/>
                </a:solidFill>
                <a:latin typeface="Pretendard Regular"/>
                <a:ea typeface="Pretendard Regular"/>
              </a:rPr>
              <a:t>현재 욕설 필터는 단순 배열을 사전처럼 사용해 우회에 취약함 </a:t>
            </a:r>
            <a:endParaRPr lang="ko-KR" altLang="en-US" sz="3000" b="1" i="0" u="none" strike="noStrike">
              <a:solidFill>
                <a:srgbClr val="ff0000"/>
              </a:solidFill>
              <a:latin typeface="Pretendard Regular"/>
              <a:ea typeface="Pretendard Regular"/>
            </a:endParaRPr>
          </a:p>
          <a:p>
            <a:pPr lvl="0" algn="l">
              <a:lnSpc>
                <a:spcPct val="140269"/>
              </a:lnSpc>
              <a:defRPr/>
            </a:pPr>
            <a:endParaRPr lang="en-US" sz="3000" b="1" i="0" u="none" strike="noStrike">
              <a:solidFill>
                <a:srgbClr val="ff0000"/>
              </a:solidFill>
              <a:latin typeface="Pretendard Regular"/>
              <a:ea typeface="Pretendard Regular"/>
            </a:endParaRPr>
          </a:p>
        </p:txBody>
      </p:sp>
      <p:sp>
        <p:nvSpPr>
          <p:cNvPr id="29" name="TextBox 10"/>
          <p:cNvSpPr txBox="1"/>
          <p:nvPr/>
        </p:nvSpPr>
        <p:spPr>
          <a:xfrm>
            <a:off x="6743699" y="7200900"/>
            <a:ext cx="10172701" cy="1371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0269"/>
              </a:lnSpc>
              <a:defRPr/>
            </a:pPr>
            <a:r>
              <a:rPr lang="ko-KR" altLang="en-US" sz="3000" b="1" i="0" u="none" strike="noStrike">
                <a:solidFill>
                  <a:srgbClr val="000000"/>
                </a:solidFill>
                <a:latin typeface="Pretendard Regular"/>
                <a:ea typeface="Pretendard Regular"/>
              </a:rPr>
              <a:t>사전기반이 아닌 </a:t>
            </a:r>
            <a:r>
              <a:rPr lang="en-US" altLang="ko-KR" sz="3000" b="1" i="0" u="none" strike="noStrike">
                <a:solidFill>
                  <a:srgbClr val="000000"/>
                </a:solidFill>
                <a:latin typeface="Pretendard Regular"/>
                <a:ea typeface="Pretendard Regular"/>
              </a:rPr>
              <a:t>KoBERT </a:t>
            </a:r>
            <a:r>
              <a:rPr lang="ko-KR" altLang="en-US" sz="3000" b="1" i="0" u="none" strike="noStrike">
                <a:solidFill>
                  <a:srgbClr val="000000"/>
                </a:solidFill>
                <a:latin typeface="Pretendard Regular"/>
                <a:ea typeface="Pretendard Regular"/>
              </a:rPr>
              <a:t>기반 욕설 분류 모델을 사용해 우회를 막는 방식을 도입해 해결가능 </a:t>
            </a:r>
            <a:endParaRPr lang="ko-KR" altLang="en-US" sz="3000" b="1" i="0" u="none" strike="noStrike">
              <a:solidFill>
                <a:srgbClr val="000000"/>
              </a:solidFill>
              <a:latin typeface="Pretendard Regular"/>
              <a:ea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315221742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2a4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71512" y="2552700"/>
            <a:ext cx="16944976" cy="381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715000" y="4362450"/>
            <a:ext cx="6896100" cy="1600200"/>
          </a:xfrm>
          <a:prstGeom prst="rect">
            <a:avLst/>
          </a:prstGeom>
        </p:spPr>
        <p:txBody>
          <a:bodyPr lIns="0" tIns="152400" rIns="0" bIns="15240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9000" b="0" i="0" u="none" strike="noStrike" spc="-1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감사합니다.</a:t>
            </a:r>
            <a:endParaRPr lang="en-US" sz="9000" b="0" i="0" u="none" strike="noStrike" spc="-110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771900" y="1047750"/>
            <a:ext cx="10744200" cy="1123950"/>
          </a:xfrm>
          <a:prstGeom prst="rect">
            <a:avLst/>
          </a:prstGeom>
        </p:spPr>
        <p:txBody>
          <a:bodyPr lIns="0" tIns="186806" rIns="0" bIns="186806" anchor="ctr"/>
          <a:lstStyle/>
          <a:p>
            <a:pPr lvl="0" algn="ctr">
              <a:lnSpc>
                <a:spcPct val="87149"/>
              </a:lnSpc>
              <a:defRPr/>
            </a:pPr>
            <a:r>
              <a:rPr 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L</a:t>
            </a:r>
            <a:r>
              <a:rPr lang="ko-KR" alt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L</a:t>
            </a:r>
            <a:r>
              <a:rPr lang="ko-KR" alt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M</a:t>
            </a:r>
            <a:r>
              <a:rPr lang="ko-KR" alt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을 </a:t>
            </a:r>
            <a:r>
              <a:rPr lang="ko-KR" alt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활용한 </a:t>
            </a:r>
            <a:r>
              <a:rPr lang="ko-KR" alt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 </a:t>
            </a:r>
            <a:r>
              <a:rPr 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I</a:t>
            </a:r>
            <a:r>
              <a:rPr lang="ko-KR" alt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T </a:t>
            </a:r>
            <a:r>
              <a:rPr lang="ko-KR" alt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H</a:t>
            </a:r>
            <a:r>
              <a:rPr lang="ko-KR" alt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R </a:t>
            </a:r>
            <a:r>
              <a:rPr lang="ko-KR" alt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6300" b="0" i="0" u="none" strike="noStrike" spc="-7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웹 솔루션</a:t>
            </a:r>
            <a:endParaRPr lang="en-US" sz="6300" b="0" i="0" u="none" strike="noStrike" spc="-70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716000" y="7848600"/>
            <a:ext cx="4010025" cy="1447800"/>
          </a:xfrm>
          <a:prstGeom prst="rect">
            <a:avLst/>
          </a:prstGeom>
        </p:spPr>
        <p:txBody>
          <a:bodyPr lIns="0" tIns="50800" rIns="0" bIns="5080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3000" b="0" i="0" u="none" strike="noStrike" spc="-2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CONTACT</a:t>
            </a:r>
            <a:endParaRPr lang="en-US" sz="3000" b="0" i="0" u="none" strike="noStrike" spc="-200">
              <a:solidFill>
                <a:srgbClr val="ffffff"/>
              </a:solidFill>
              <a:latin typeface="Pretendard ExtraBold"/>
              <a:ea typeface="Pretendard ExtraBold"/>
              <a:cs typeface="Pretendard ExtraBold"/>
            </a:endParaRPr>
          </a:p>
          <a:p>
            <a:pPr lvl="0" algn="l">
              <a:lnSpc>
                <a:spcPct val="99600"/>
              </a:lnSpc>
              <a:defRPr/>
            </a:pPr>
            <a:r>
              <a:rPr lang="en-US" sz="3000" b="0" i="0" u="none" strike="noStrike" spc="-2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발표자 : 김</a:t>
            </a:r>
            <a:r>
              <a:rPr lang="ko-KR" altLang="en-US" sz="3000" b="0" i="0" u="none" strike="noStrike" spc="-2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민영</a:t>
            </a:r>
            <a:endParaRPr lang="ko-KR" altLang="en-US" sz="3000" b="0" i="0" u="none" strike="noStrike" spc="-200">
              <a:solidFill>
                <a:srgbClr val="ffffff"/>
              </a:solidFill>
              <a:latin typeface="Pretendard ExtraBold"/>
              <a:ea typeface="Pretendard ExtraBold"/>
              <a:cs typeface="Pretendard ExtraBold"/>
            </a:endParaRPr>
          </a:p>
          <a:p>
            <a:pPr lvl="0" algn="l">
              <a:lnSpc>
                <a:spcPct val="99600"/>
              </a:lnSpc>
              <a:defRPr/>
            </a:pPr>
            <a:r>
              <a:rPr lang="en-US" sz="3000" b="0" i="0" u="none" strike="noStrike" spc="-2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연락처 : 010-</a:t>
            </a:r>
            <a:r>
              <a:rPr lang="en-US" altLang="ko-KR" sz="3000" b="0" i="0" u="none" strike="noStrike" spc="-2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9917-4907</a:t>
            </a:r>
            <a:endParaRPr lang="en-US" altLang="ko-KR" sz="3000" b="0" i="0" u="none" strike="noStrike" spc="-200">
              <a:solidFill>
                <a:srgbClr val="ffffff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482448091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481</ep:Words>
  <ep:PresentationFormat>On-screen Show (4:3)</ep:PresentationFormat>
  <ep:Paragraphs>178</ep:Paragraphs>
  <ep:Slides>16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82109</cp:lastModifiedBy>
  <dcterms:modified xsi:type="dcterms:W3CDTF">2026-02-02T08:37:18.873</dcterms:modified>
  <cp:revision>220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